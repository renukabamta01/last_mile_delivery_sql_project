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4"/>
  </p:notesMasterIdLst>
  <p:sldIdLst>
    <p:sldId id="256" r:id="rId2"/>
    <p:sldId id="265" r:id="rId3"/>
    <p:sldId id="258" r:id="rId4"/>
    <p:sldId id="260" r:id="rId5"/>
    <p:sldId id="288" r:id="rId6"/>
    <p:sldId id="261" r:id="rId7"/>
    <p:sldId id="262" r:id="rId8"/>
    <p:sldId id="267" r:id="rId9"/>
    <p:sldId id="268" r:id="rId10"/>
    <p:sldId id="269" r:id="rId11"/>
    <p:sldId id="289" r:id="rId12"/>
    <p:sldId id="290" r:id="rId13"/>
    <p:sldId id="291" r:id="rId14"/>
    <p:sldId id="292" r:id="rId15"/>
    <p:sldId id="293" r:id="rId16"/>
    <p:sldId id="294" r:id="rId17"/>
    <p:sldId id="295" r:id="rId18"/>
    <p:sldId id="296" r:id="rId19"/>
    <p:sldId id="297" r:id="rId20"/>
    <p:sldId id="298" r:id="rId21"/>
    <p:sldId id="299" r:id="rId22"/>
    <p:sldId id="300" r:id="rId23"/>
    <p:sldId id="301" r:id="rId24"/>
    <p:sldId id="302" r:id="rId25"/>
    <p:sldId id="303" r:id="rId26"/>
    <p:sldId id="304" r:id="rId27"/>
    <p:sldId id="305" r:id="rId28"/>
    <p:sldId id="306" r:id="rId29"/>
    <p:sldId id="307" r:id="rId30"/>
    <p:sldId id="308" r:id="rId31"/>
    <p:sldId id="309" r:id="rId32"/>
    <p:sldId id="310" r:id="rId33"/>
    <p:sldId id="311" r:id="rId34"/>
    <p:sldId id="312" r:id="rId35"/>
    <p:sldId id="313" r:id="rId36"/>
    <p:sldId id="314" r:id="rId37"/>
    <p:sldId id="315" r:id="rId38"/>
    <p:sldId id="316" r:id="rId39"/>
    <p:sldId id="319" r:id="rId40"/>
    <p:sldId id="320" r:id="rId41"/>
    <p:sldId id="318" r:id="rId42"/>
    <p:sldId id="259" r:id="rId43"/>
  </p:sldIdLst>
  <p:sldSz cx="12192000" cy="6858000"/>
  <p:notesSz cx="6858000" cy="9144000"/>
  <p:embeddedFontLst>
    <p:embeddedFont>
      <p:font typeface="Libre Baskerville" panose="02000000000000000000" pitchFamily="2"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20CB29-7685-42D0-8725-078BE55C8979}" v="62" dt="2026-08-14T16:14:39.5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8" Type="http://schemas.openxmlformats.org/officeDocument/2006/relationships/slide" Target="slides/slide7.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AE"/>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A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A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AE"/>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AE"/>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renukabamta01" TargetMode="External"/><Relationship Id="rId2" Type="http://schemas.openxmlformats.org/officeDocument/2006/relationships/hyperlink" Target="https://www.linkedin.com/in/renuka-bamta-06881224b/" TargetMode="Externa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0" y="0"/>
            <a:ext cx="12190815" cy="6858000"/>
          </a:xfrm>
          <a:prstGeom prst="rect">
            <a:avLst/>
          </a:prstGeom>
          <a:noFill/>
          <a:ln>
            <a:noFill/>
          </a:ln>
        </p:spPr>
      </p:pic>
      <p:sp>
        <p:nvSpPr>
          <p:cNvPr id="99" name="Google Shape;99;p1"/>
          <p:cNvSpPr txBox="1"/>
          <p:nvPr/>
        </p:nvSpPr>
        <p:spPr>
          <a:xfrm>
            <a:off x="1831984" y="3732053"/>
            <a:ext cx="8528031" cy="1908174"/>
          </a:xfrm>
          <a:prstGeom prst="rect">
            <a:avLst/>
          </a:prstGeom>
          <a:noFill/>
          <a:ln>
            <a:noFill/>
          </a:ln>
        </p:spPr>
        <p:txBody>
          <a:bodyPr spcFirstLastPara="1" wrap="square" lIns="91425" tIns="45700" rIns="91425" bIns="45700" anchor="t" anchorCtr="0">
            <a:spAutoFit/>
          </a:bodyPr>
          <a:lstStyle/>
          <a:p>
            <a:pPr algn="ctr"/>
            <a:r>
              <a:rPr lang="en-US" sz="2800" b="1" dirty="0"/>
              <a:t>Last-Mile Delivery Operations Analytics</a:t>
            </a:r>
          </a:p>
          <a:p>
            <a:pPr lvl="0" algn="ctr">
              <a:buSzPts val="1800"/>
            </a:pPr>
            <a:r>
              <a:rPr lang="en-US" b="1" dirty="0"/>
              <a:t> MySQL Business Analytics Project</a:t>
            </a:r>
            <a:endParaRPr lang="en-AE" sz="1200" b="1" i="0" u="none" strike="noStrike" cap="none" dirty="0">
              <a:solidFill>
                <a:srgbClr val="000000"/>
              </a:solidFill>
              <a:latin typeface="+mj-lt"/>
              <a:cs typeface="Times New Roman" panose="02020603050405020304" pitchFamily="18" charset="0"/>
              <a:sym typeface="Arial"/>
            </a:endParaRPr>
          </a:p>
          <a:p>
            <a:pPr lvl="0" algn="ctr">
              <a:buSzPts val="1800"/>
            </a:pPr>
            <a:endParaRPr lang="en-AE" sz="1200" b="1" dirty="0">
              <a:latin typeface="+mj-lt"/>
              <a:cs typeface="Times New Roman" panose="02020603050405020304" pitchFamily="18" charset="0"/>
            </a:endParaRPr>
          </a:p>
          <a:p>
            <a:pPr lvl="0" algn="ctr">
              <a:buSzPts val="1800"/>
            </a:pPr>
            <a:endParaRPr lang="en-AE" sz="1200" b="1" dirty="0">
              <a:latin typeface="+mj-lt"/>
              <a:cs typeface="Times New Roman" panose="02020603050405020304" pitchFamily="18" charset="0"/>
            </a:endParaRPr>
          </a:p>
          <a:p>
            <a:pPr lvl="0" algn="ctr">
              <a:buSzPts val="1800"/>
            </a:pPr>
            <a:r>
              <a:rPr lang="en-AE" sz="2300" dirty="0">
                <a:latin typeface="+mj-lt"/>
                <a:cs typeface="Times New Roman" panose="02020603050405020304" pitchFamily="18" charset="0"/>
              </a:rPr>
              <a:t>Presented By </a:t>
            </a:r>
          </a:p>
          <a:p>
            <a:pPr lvl="0" algn="ctr">
              <a:buSzPts val="1800"/>
            </a:pPr>
            <a:r>
              <a:rPr lang="en-AE" sz="2500" b="1" dirty="0">
                <a:latin typeface="+mj-lt"/>
                <a:cs typeface="Times New Roman" panose="02020603050405020304" pitchFamily="18" charset="0"/>
              </a:rPr>
              <a:t>Renuka Bamta</a:t>
            </a:r>
          </a:p>
        </p:txBody>
      </p:sp>
      <p:pic>
        <p:nvPicPr>
          <p:cNvPr id="3" name="Picture 2">
            <a:extLst>
              <a:ext uri="{FF2B5EF4-FFF2-40B4-BE49-F238E27FC236}">
                <a16:creationId xmlns:a16="http://schemas.microsoft.com/office/drawing/2014/main" id="{E7E2061B-00B3-8D70-8CEE-68BC4ED89E64}"/>
              </a:ext>
            </a:extLst>
          </p:cNvPr>
          <p:cNvPicPr>
            <a:picLocks noChangeAspect="1"/>
          </p:cNvPicPr>
          <p:nvPr/>
        </p:nvPicPr>
        <p:blipFill>
          <a:blip r:embed="rId4"/>
          <a:stretch>
            <a:fillRect/>
          </a:stretch>
        </p:blipFill>
        <p:spPr>
          <a:xfrm>
            <a:off x="7569483" y="6176025"/>
            <a:ext cx="2790532" cy="54704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C23E7-956F-8AB7-3D16-6508DC3B02BB}"/>
              </a:ext>
            </a:extLst>
          </p:cNvPr>
          <p:cNvSpPr>
            <a:spLocks noGrp="1"/>
          </p:cNvSpPr>
          <p:nvPr>
            <p:ph type="title"/>
          </p:nvPr>
        </p:nvSpPr>
        <p:spPr>
          <a:xfrm>
            <a:off x="639097" y="0"/>
            <a:ext cx="11041625" cy="858129"/>
          </a:xfrm>
        </p:spPr>
        <p:txBody>
          <a:bodyPr>
            <a:normAutofit/>
          </a:bodyPr>
          <a:lstStyle/>
          <a:p>
            <a:pPr algn="ctr"/>
            <a:r>
              <a:rPr lang="en-IN" sz="4000" b="1" dirty="0">
                <a:solidFill>
                  <a:schemeClr val="accent1">
                    <a:lumMod val="75000"/>
                  </a:schemeClr>
                </a:solidFill>
              </a:rPr>
              <a:t>About Me</a:t>
            </a:r>
            <a:endParaRPr lang="en-AE" sz="4000" b="1" dirty="0">
              <a:solidFill>
                <a:schemeClr val="accent1">
                  <a:lumMod val="75000"/>
                </a:schemeClr>
              </a:solidFill>
            </a:endParaRPr>
          </a:p>
        </p:txBody>
      </p:sp>
      <p:sp>
        <p:nvSpPr>
          <p:cNvPr id="3" name="Text Placeholder 2">
            <a:extLst>
              <a:ext uri="{FF2B5EF4-FFF2-40B4-BE49-F238E27FC236}">
                <a16:creationId xmlns:a16="http://schemas.microsoft.com/office/drawing/2014/main" id="{13A33FB6-E19D-11CC-9600-E85D348C6D49}"/>
              </a:ext>
            </a:extLst>
          </p:cNvPr>
          <p:cNvSpPr>
            <a:spLocks noGrp="1"/>
          </p:cNvSpPr>
          <p:nvPr>
            <p:ph type="body" idx="1"/>
          </p:nvPr>
        </p:nvSpPr>
        <p:spPr>
          <a:xfrm>
            <a:off x="639097" y="1022555"/>
            <a:ext cx="11041625" cy="5122607"/>
          </a:xfrm>
        </p:spPr>
        <p:txBody>
          <a:bodyPr>
            <a:normAutofit/>
          </a:bodyPr>
          <a:lstStyle/>
          <a:p>
            <a:pPr marL="114300" indent="0">
              <a:buNone/>
            </a:pPr>
            <a:r>
              <a:rPr lang="en-US" sz="2000" dirty="0">
                <a:latin typeface="Times New Roman" panose="02020603050405020304" pitchFamily="18" charset="0"/>
                <a:cs typeface="Times New Roman" panose="02020603050405020304" pitchFamily="18" charset="0"/>
              </a:rPr>
              <a:t>Hi, I'm Renuka Bamta, an aspiring Data Analyst with a background in </a:t>
            </a:r>
            <a:r>
              <a:rPr lang="en-US" sz="2000" dirty="0" err="1">
                <a:latin typeface="Times New Roman" panose="02020603050405020304" pitchFamily="18" charset="0"/>
                <a:cs typeface="Times New Roman" panose="02020603050405020304" pitchFamily="18" charset="0"/>
              </a:rPr>
              <a:t>B.Tech</a:t>
            </a:r>
            <a:r>
              <a:rPr lang="en-US" sz="2000" dirty="0">
                <a:latin typeface="Times New Roman" panose="02020603050405020304" pitchFamily="18" charset="0"/>
                <a:cs typeface="Times New Roman" panose="02020603050405020304" pitchFamily="18" charset="0"/>
              </a:rPr>
              <a:t> (CSE). I have developed skills in SQL, Python, Pandas, and NumPy. This presentation showcases my SQL project,</a:t>
            </a:r>
            <a:r>
              <a:rPr lang="en-US" sz="2000" b="1" dirty="0">
                <a:latin typeface="Times New Roman" panose="02020603050405020304" pitchFamily="18" charset="0"/>
                <a:cs typeface="Times New Roman" panose="02020603050405020304" pitchFamily="18" charset="0"/>
              </a:rPr>
              <a:t> Last Mile Delivery Analysis</a:t>
            </a:r>
            <a:r>
              <a:rPr lang="en-US" sz="2000" dirty="0">
                <a:latin typeface="Times New Roman" panose="02020603050405020304" pitchFamily="18" charset="0"/>
                <a:cs typeface="Times New Roman" panose="02020603050405020304" pitchFamily="18" charset="0"/>
              </a:rPr>
              <a:t>.</a:t>
            </a:r>
          </a:p>
          <a:p>
            <a:pPr marL="114300" indent="0">
              <a:buNone/>
            </a:pPr>
            <a:endParaRPr lang="en-US" sz="1800" dirty="0">
              <a:solidFill>
                <a:schemeClr val="tx1"/>
              </a:solidFill>
              <a:latin typeface="Times New Roman" panose="02020603050405020304" pitchFamily="18" charset="0"/>
              <a:cs typeface="Times New Roman" panose="02020603050405020304" pitchFamily="18" charset="0"/>
            </a:endParaRPr>
          </a:p>
          <a:p>
            <a:pPr marL="114300" indent="0">
              <a:buNone/>
            </a:pPr>
            <a:r>
              <a:rPr lang="en-US" sz="2000" b="1" spc="-10" dirty="0">
                <a:solidFill>
                  <a:schemeClr val="tx1"/>
                </a:solidFill>
                <a:uFill>
                  <a:solidFill>
                    <a:srgbClr val="0462C1"/>
                  </a:solidFill>
                </a:uFill>
                <a:latin typeface="Times New Roman" panose="02020603050405020304" pitchFamily="18" charset="0"/>
                <a:cs typeface="Times New Roman" panose="02020603050405020304" pitchFamily="18" charset="0"/>
              </a:rPr>
              <a:t>Work Experience </a:t>
            </a:r>
            <a:r>
              <a:rPr lang="en-US" sz="1800" b="1" spc="-10" dirty="0">
                <a:solidFill>
                  <a:schemeClr val="tx1"/>
                </a:solidFill>
                <a:uFill>
                  <a:solidFill>
                    <a:srgbClr val="0462C1"/>
                  </a:solidFill>
                </a:uFill>
                <a:latin typeface="Times New Roman" panose="02020603050405020304" pitchFamily="18" charset="0"/>
                <a:cs typeface="Times New Roman" panose="02020603050405020304" pitchFamily="18" charset="0"/>
              </a:rPr>
              <a:t>: </a:t>
            </a:r>
            <a:r>
              <a:rPr lang="en-US" sz="1800" spc="-10" dirty="0">
                <a:solidFill>
                  <a:schemeClr val="tx1"/>
                </a:solidFill>
                <a:uFill>
                  <a:solidFill>
                    <a:srgbClr val="0462C1"/>
                  </a:solidFill>
                </a:uFill>
                <a:latin typeface="Times New Roman" panose="02020603050405020304" pitchFamily="18" charset="0"/>
                <a:cs typeface="Times New Roman" panose="02020603050405020304" pitchFamily="18" charset="0"/>
              </a:rPr>
              <a:t>Fresher</a:t>
            </a:r>
          </a:p>
          <a:p>
            <a:pPr marL="114300" indent="0">
              <a:buNone/>
            </a:pPr>
            <a:endParaRPr lang="en-US" sz="1800" spc="-10" dirty="0">
              <a:solidFill>
                <a:schemeClr val="tx1"/>
              </a:solidFill>
              <a:uFill>
                <a:solidFill>
                  <a:srgbClr val="0462C1"/>
                </a:solidFill>
              </a:uFill>
              <a:latin typeface="Times New Roman" panose="02020603050405020304" pitchFamily="18" charset="0"/>
              <a:cs typeface="Times New Roman" panose="02020603050405020304" pitchFamily="18" charset="0"/>
            </a:endParaRPr>
          </a:p>
          <a:p>
            <a:pPr marL="114300" indent="0">
              <a:buNone/>
            </a:pPr>
            <a:r>
              <a:rPr lang="en-US" sz="2000" b="1" spc="-10" dirty="0">
                <a:solidFill>
                  <a:schemeClr val="tx1"/>
                </a:solidFill>
                <a:uFill>
                  <a:solidFill>
                    <a:srgbClr val="0462C1"/>
                  </a:solidFill>
                </a:uFill>
                <a:latin typeface="Times New Roman" panose="02020603050405020304" pitchFamily="18" charset="0"/>
                <a:cs typeface="Times New Roman" panose="02020603050405020304" pitchFamily="18" charset="0"/>
              </a:rPr>
              <a:t>LinkedIn : </a:t>
            </a:r>
            <a:r>
              <a:rPr lang="en-US" sz="1600" b="1" spc="-10" dirty="0">
                <a:solidFill>
                  <a:schemeClr val="tx1"/>
                </a:solidFill>
                <a:uFill>
                  <a:solidFill>
                    <a:srgbClr val="0462C1"/>
                  </a:solidFill>
                </a:uFill>
                <a:latin typeface="Times New Roman" panose="02020603050405020304" pitchFamily="18" charset="0"/>
                <a:cs typeface="Times New Roman" panose="02020603050405020304" pitchFamily="18" charset="0"/>
                <a:hlinkClick r:id="rId2"/>
              </a:rPr>
              <a:t>https://www.linkedin.com/in/renuka-bamta-06881224b/</a:t>
            </a:r>
            <a:endParaRPr lang="en-US" sz="1600" b="1" spc="-10" dirty="0">
              <a:solidFill>
                <a:schemeClr val="tx1"/>
              </a:solidFill>
              <a:uFill>
                <a:solidFill>
                  <a:srgbClr val="0462C1"/>
                </a:solidFill>
              </a:uFill>
              <a:latin typeface="Times New Roman" panose="02020603050405020304" pitchFamily="18" charset="0"/>
              <a:cs typeface="Times New Roman" panose="02020603050405020304" pitchFamily="18" charset="0"/>
            </a:endParaRPr>
          </a:p>
          <a:p>
            <a:pPr marL="114300" indent="0">
              <a:buNone/>
            </a:pPr>
            <a:endParaRPr lang="en-US" sz="1600" b="1" spc="-10" dirty="0">
              <a:solidFill>
                <a:schemeClr val="tx1"/>
              </a:solidFill>
              <a:uFill>
                <a:solidFill>
                  <a:srgbClr val="0462C1"/>
                </a:solidFill>
              </a:uFill>
              <a:latin typeface="Times New Roman" panose="02020603050405020304" pitchFamily="18" charset="0"/>
              <a:cs typeface="Times New Roman" panose="02020603050405020304" pitchFamily="18" charset="0"/>
            </a:endParaRPr>
          </a:p>
          <a:p>
            <a:pPr marL="114300" indent="0">
              <a:buNone/>
            </a:pPr>
            <a:r>
              <a:rPr lang="en-AE" sz="2000" b="1" dirty="0">
                <a:latin typeface="Times New Roman" panose="02020603050405020304" pitchFamily="18" charset="0"/>
                <a:cs typeface="Times New Roman" panose="02020603050405020304" pitchFamily="18" charset="0"/>
              </a:rPr>
              <a:t>GitHub  : </a:t>
            </a:r>
            <a:r>
              <a:rPr lang="en-US" sz="1600" b="1" dirty="0">
                <a:latin typeface="Times New Roman" panose="02020603050405020304" pitchFamily="18" charset="0"/>
                <a:cs typeface="Times New Roman" panose="02020603050405020304" pitchFamily="18" charset="0"/>
                <a:hlinkClick r:id="rId3"/>
              </a:rPr>
              <a:t>https://github.com/renukabamta01</a:t>
            </a:r>
            <a:endParaRPr lang="en-US" sz="2000" b="1" dirty="0">
              <a:latin typeface="Times New Roman" panose="02020603050405020304" pitchFamily="18" charset="0"/>
              <a:cs typeface="Times New Roman" panose="02020603050405020304" pitchFamily="18" charset="0"/>
            </a:endParaRPr>
          </a:p>
          <a:p>
            <a:pPr marL="114300" indent="0">
              <a:buNone/>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38220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314632"/>
            <a:ext cx="10515600" cy="73742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4400"/>
              <a:buFont typeface="Calibri"/>
              <a:buNone/>
            </a:pPr>
            <a:r>
              <a:rPr lang="en-IN" sz="3200" b="1" dirty="0">
                <a:solidFill>
                  <a:schemeClr val="accent1">
                    <a:lumMod val="75000"/>
                  </a:schemeClr>
                </a:solidFill>
                <a:latin typeface="Times New Roman" panose="02020603050405020304" pitchFamily="18" charset="0"/>
                <a:cs typeface="Times New Roman" panose="02020603050405020304" pitchFamily="18" charset="0"/>
              </a:rPr>
              <a:t>Agenda</a:t>
            </a:r>
            <a:endParaRPr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111" name="Google Shape;111;p4"/>
          <p:cNvSpPr txBox="1">
            <a:spLocks noGrp="1"/>
          </p:cNvSpPr>
          <p:nvPr>
            <p:ph type="body" idx="1"/>
          </p:nvPr>
        </p:nvSpPr>
        <p:spPr>
          <a:xfrm>
            <a:off x="684880" y="1150374"/>
            <a:ext cx="10838526" cy="4984955"/>
          </a:xfrm>
          <a:prstGeom prst="rect">
            <a:avLst/>
          </a:prstGeom>
          <a:noFill/>
          <a:ln>
            <a:noFill/>
          </a:ln>
        </p:spPr>
        <p:txBody>
          <a:bodyPr spcFirstLastPara="1" wrap="square" lIns="91425" tIns="45700" rIns="91425" bIns="45700" anchor="t" anchorCtr="0">
            <a:normAutofit/>
          </a:bodyPr>
          <a:lstStyle/>
          <a:p>
            <a:pPr lvl="0"/>
            <a:r>
              <a:rPr lang="en-US" sz="1800" b="1" dirty="0">
                <a:latin typeface="Times New Roman" panose="02020603050405020304" pitchFamily="18" charset="0"/>
                <a:cs typeface="Times New Roman" panose="02020603050405020304" pitchFamily="18" charset="0"/>
              </a:rPr>
              <a:t>Project Overview</a:t>
            </a:r>
            <a:r>
              <a:rPr lang="en-US" sz="1800" dirty="0">
                <a:latin typeface="Times New Roman" panose="02020603050405020304" pitchFamily="18" charset="0"/>
                <a:cs typeface="Times New Roman" panose="02020603050405020304" pitchFamily="18" charset="0"/>
              </a:rPr>
              <a:t> </a:t>
            </a:r>
          </a:p>
          <a:p>
            <a:pPr marL="114300" lvl="0" indent="0">
              <a:buNone/>
            </a:pPr>
            <a:endParaRPr lang="en-US" sz="1800" dirty="0">
              <a:latin typeface="Times New Roman" panose="02020603050405020304" pitchFamily="18" charset="0"/>
              <a:cs typeface="Times New Roman" panose="02020603050405020304" pitchFamily="18" charset="0"/>
            </a:endParaRPr>
          </a:p>
          <a:p>
            <a:pPr lvl="0"/>
            <a:r>
              <a:rPr lang="en-US" sz="1800" b="1" dirty="0">
                <a:latin typeface="Times New Roman" panose="02020603050405020304" pitchFamily="18" charset="0"/>
                <a:cs typeface="Times New Roman" panose="02020603050405020304" pitchFamily="18" charset="0"/>
              </a:rPr>
              <a:t>Project Objective</a:t>
            </a:r>
          </a:p>
          <a:p>
            <a:pPr marL="114300" lvl="0" indent="0">
              <a:buNone/>
            </a:pPr>
            <a:r>
              <a:rPr lang="en-US" sz="1800" dirty="0">
                <a:latin typeface="Times New Roman" panose="02020603050405020304" pitchFamily="18" charset="0"/>
                <a:cs typeface="Times New Roman" panose="02020603050405020304" pitchFamily="18" charset="0"/>
              </a:rPr>
              <a:t> </a:t>
            </a:r>
          </a:p>
          <a:p>
            <a:pPr lvl="0"/>
            <a:r>
              <a:rPr lang="en-US" sz="1800" b="1" dirty="0">
                <a:latin typeface="Times New Roman" panose="02020603050405020304" pitchFamily="18" charset="0"/>
                <a:cs typeface="Times New Roman" panose="02020603050405020304" pitchFamily="18" charset="0"/>
              </a:rPr>
              <a:t>ER Diagram &amp; Database Structure</a:t>
            </a:r>
            <a:r>
              <a:rPr lang="en-US" sz="1800" dirty="0">
                <a:latin typeface="Times New Roman" panose="02020603050405020304" pitchFamily="18" charset="0"/>
                <a:cs typeface="Times New Roman" panose="02020603050405020304" pitchFamily="18" charset="0"/>
              </a:rPr>
              <a:t> </a:t>
            </a:r>
          </a:p>
          <a:p>
            <a:pPr marL="114300" lvl="0" indent="0">
              <a:buNone/>
            </a:pPr>
            <a:endParaRPr lang="en-US" sz="1800" dirty="0">
              <a:latin typeface="Times New Roman" panose="02020603050405020304" pitchFamily="18" charset="0"/>
              <a:cs typeface="Times New Roman" panose="02020603050405020304" pitchFamily="18" charset="0"/>
            </a:endParaRPr>
          </a:p>
          <a:p>
            <a:pPr lvl="0"/>
            <a:r>
              <a:rPr lang="en-US" sz="1800" b="1" dirty="0">
                <a:latin typeface="Times New Roman" panose="02020603050405020304" pitchFamily="18" charset="0"/>
                <a:cs typeface="Times New Roman" panose="02020603050405020304" pitchFamily="18" charset="0"/>
              </a:rPr>
              <a:t>SQL Analysis &amp; Business Questions</a:t>
            </a:r>
            <a:r>
              <a:rPr lang="en-US" sz="1800" dirty="0">
                <a:latin typeface="Times New Roman" panose="02020603050405020304" pitchFamily="18" charset="0"/>
                <a:cs typeface="Times New Roman" panose="02020603050405020304" pitchFamily="18" charset="0"/>
              </a:rPr>
              <a:t> </a:t>
            </a:r>
          </a:p>
          <a:p>
            <a:pPr marL="114300" lvl="0" indent="0">
              <a:buNone/>
            </a:pPr>
            <a:endParaRPr lang="en-US" sz="1800" dirty="0">
              <a:latin typeface="Times New Roman" panose="02020603050405020304" pitchFamily="18" charset="0"/>
              <a:cs typeface="Times New Roman" panose="02020603050405020304" pitchFamily="18" charset="0"/>
            </a:endParaRPr>
          </a:p>
          <a:p>
            <a:pPr lvl="0"/>
            <a:r>
              <a:rPr lang="en-US" sz="1800" b="1" dirty="0">
                <a:latin typeface="Times New Roman" panose="02020603050405020304" pitchFamily="18" charset="0"/>
                <a:cs typeface="Times New Roman" panose="02020603050405020304" pitchFamily="18" charset="0"/>
              </a:rPr>
              <a:t>Key Insights &amp; Findings</a:t>
            </a:r>
            <a:r>
              <a:rPr lang="en-US" sz="1800" dirty="0">
                <a:latin typeface="Times New Roman" panose="02020603050405020304" pitchFamily="18" charset="0"/>
                <a:cs typeface="Times New Roman" panose="02020603050405020304" pitchFamily="18" charset="0"/>
              </a:rPr>
              <a:t> </a:t>
            </a:r>
          </a:p>
          <a:p>
            <a:pPr marL="114300" lvl="0" indent="0">
              <a:buNone/>
            </a:pPr>
            <a:endParaRPr lang="en-US" sz="1800" dirty="0">
              <a:latin typeface="Times New Roman" panose="02020603050405020304" pitchFamily="18" charset="0"/>
              <a:cs typeface="Times New Roman" panose="02020603050405020304" pitchFamily="18" charset="0"/>
            </a:endParaRPr>
          </a:p>
          <a:p>
            <a:pPr marL="114300" lvl="0" indent="0">
              <a:buNone/>
            </a:pPr>
            <a:r>
              <a:rPr lang="en-US" sz="2000" b="1"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   Challenges Faced in the Project</a:t>
            </a:r>
          </a:p>
          <a:p>
            <a:pPr marL="114300" lvl="0" indent="0">
              <a:buNone/>
            </a:pPr>
            <a:endParaRPr lang="en-US" sz="1800" dirty="0">
              <a:latin typeface="Times New Roman" panose="02020603050405020304" pitchFamily="18" charset="0"/>
              <a:cs typeface="Times New Roman" panose="02020603050405020304" pitchFamily="18" charset="0"/>
            </a:endParaRPr>
          </a:p>
          <a:p>
            <a:pPr lvl="0"/>
            <a:r>
              <a:rPr lang="en-US" sz="1800" b="1" dirty="0">
                <a:latin typeface="Times New Roman" panose="02020603050405020304" pitchFamily="18" charset="0"/>
                <a:cs typeface="Times New Roman" panose="02020603050405020304" pitchFamily="18" charset="0"/>
              </a:rPr>
              <a:t>Conclusion &amp; Recommendations</a:t>
            </a:r>
            <a:endParaRPr lang="en-US" sz="1800" dirty="0">
              <a:latin typeface="Times New Roman" panose="02020603050405020304" pitchFamily="18" charset="0"/>
              <a:cs typeface="Times New Roman" panose="02020603050405020304" pitchFamily="18" charset="0"/>
            </a:endParaRPr>
          </a:p>
          <a:p>
            <a:pPr marL="25400" lvl="0" indent="0" algn="l" rtl="0">
              <a:lnSpc>
                <a:spcPct val="90000"/>
              </a:lnSpc>
              <a:spcBef>
                <a:spcPts val="1000"/>
              </a:spcBef>
              <a:spcAft>
                <a:spcPts val="0"/>
              </a:spcAft>
              <a:buSzPts val="2400"/>
              <a:buNone/>
            </a:pP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10839-4FF5-3F94-8727-DA1CA6C9CE64}"/>
              </a:ext>
            </a:extLst>
          </p:cNvPr>
          <p:cNvSpPr>
            <a:spLocks noGrp="1"/>
          </p:cNvSpPr>
          <p:nvPr>
            <p:ph type="title"/>
          </p:nvPr>
        </p:nvSpPr>
        <p:spPr>
          <a:xfrm>
            <a:off x="609600" y="112542"/>
            <a:ext cx="10972800" cy="829993"/>
          </a:xfrm>
        </p:spPr>
        <p:txBody>
          <a:bodyPr>
            <a:normAutofit/>
          </a:bodyPr>
          <a:lstStyle/>
          <a:p>
            <a:pPr lvl="0" algn="ctr"/>
            <a:r>
              <a:rPr lang="en-US" sz="3200" b="1" dirty="0">
                <a:solidFill>
                  <a:schemeClr val="accent1">
                    <a:lumMod val="75000"/>
                  </a:schemeClr>
                </a:solidFill>
                <a:latin typeface="Times New Roman" panose="02020603050405020304" pitchFamily="18" charset="0"/>
                <a:cs typeface="Times New Roman" panose="02020603050405020304" pitchFamily="18" charset="0"/>
              </a:rPr>
              <a:t>Project Overview</a:t>
            </a:r>
            <a:r>
              <a:rPr lang="en-US" sz="3200" dirty="0">
                <a:solidFill>
                  <a:schemeClr val="accent1">
                    <a:lumMod val="75000"/>
                  </a:schemeClr>
                </a:solidFill>
                <a:latin typeface="Times New Roman" panose="02020603050405020304" pitchFamily="18" charset="0"/>
                <a:cs typeface="Times New Roman" panose="02020603050405020304" pitchFamily="18" charset="0"/>
              </a:rPr>
              <a:t> </a:t>
            </a:r>
          </a:p>
        </p:txBody>
      </p:sp>
      <p:sp>
        <p:nvSpPr>
          <p:cNvPr id="3" name="Text Placeholder 2">
            <a:extLst>
              <a:ext uri="{FF2B5EF4-FFF2-40B4-BE49-F238E27FC236}">
                <a16:creationId xmlns:a16="http://schemas.microsoft.com/office/drawing/2014/main" id="{E83D52B1-A46E-88BA-65EE-8D7F46D9CDAC}"/>
              </a:ext>
            </a:extLst>
          </p:cNvPr>
          <p:cNvSpPr>
            <a:spLocks noGrp="1"/>
          </p:cNvSpPr>
          <p:nvPr>
            <p:ph type="body" idx="1"/>
          </p:nvPr>
        </p:nvSpPr>
        <p:spPr>
          <a:xfrm>
            <a:off x="698090" y="1278194"/>
            <a:ext cx="10776155" cy="4817806"/>
          </a:xfrm>
        </p:spPr>
        <p:txBody>
          <a:bodyPr>
            <a:normAutofit/>
          </a:bodyPr>
          <a:lstStyle/>
          <a:p>
            <a:pPr lvl="0"/>
            <a:r>
              <a:rPr lang="en-US" sz="1800" dirty="0">
                <a:latin typeface="Times New Roman" panose="02020603050405020304" pitchFamily="18" charset="0"/>
                <a:cs typeface="Times New Roman" panose="02020603050405020304" pitchFamily="18" charset="0"/>
              </a:rPr>
              <a:t>Last Mile Delivery Analysis focuses on analyzing the final stage of delivering orders from the delivery center to customers. </a:t>
            </a:r>
          </a:p>
          <a:p>
            <a:pPr marL="114300" lvl="0" indent="0">
              <a:buNone/>
            </a:pPr>
            <a:endParaRPr lang="en-US" sz="1800" dirty="0">
              <a:latin typeface="Times New Roman" panose="02020603050405020304" pitchFamily="18" charset="0"/>
              <a:cs typeface="Times New Roman" panose="02020603050405020304" pitchFamily="18" charset="0"/>
            </a:endParaRPr>
          </a:p>
          <a:p>
            <a:pPr lvl="0"/>
            <a:r>
              <a:rPr lang="en-US" sz="1800" dirty="0">
                <a:latin typeface="Times New Roman" panose="02020603050405020304" pitchFamily="18" charset="0"/>
                <a:cs typeface="Times New Roman" panose="02020603050405020304" pitchFamily="18" charset="0"/>
              </a:rPr>
              <a:t>The project uses SQL to analyze customers, orders, drivers, vehicles, and delivery performance. </a:t>
            </a:r>
          </a:p>
          <a:p>
            <a:pPr marL="114300" lvl="0" indent="0">
              <a:buNone/>
            </a:pPr>
            <a:endParaRPr lang="en-US" sz="1800" dirty="0">
              <a:latin typeface="Times New Roman" panose="02020603050405020304" pitchFamily="18" charset="0"/>
              <a:cs typeface="Times New Roman" panose="02020603050405020304" pitchFamily="18" charset="0"/>
            </a:endParaRPr>
          </a:p>
          <a:p>
            <a:pPr lvl="0"/>
            <a:r>
              <a:rPr lang="en-US" sz="1800" dirty="0">
                <a:latin typeface="Times New Roman" panose="02020603050405020304" pitchFamily="18" charset="0"/>
                <a:cs typeface="Times New Roman" panose="02020603050405020304" pitchFamily="18" charset="0"/>
              </a:rPr>
              <a:t>It helps identify delivery delays, multiple delivery attempts, driver/vehicle performance, and order patterns. </a:t>
            </a:r>
          </a:p>
          <a:p>
            <a:pPr marL="114300" lvl="0" indent="0">
              <a:buNone/>
            </a:pPr>
            <a:endParaRPr lang="en-US" sz="1800" dirty="0">
              <a:latin typeface="Times New Roman" panose="02020603050405020304" pitchFamily="18" charset="0"/>
              <a:cs typeface="Times New Roman" panose="02020603050405020304" pitchFamily="18" charset="0"/>
            </a:endParaRPr>
          </a:p>
          <a:p>
            <a:pPr lvl="0"/>
            <a:r>
              <a:rPr lang="en-US" sz="1800" dirty="0">
                <a:latin typeface="Times New Roman" panose="02020603050405020304" pitchFamily="18" charset="0"/>
                <a:cs typeface="Times New Roman" panose="02020603050405020304" pitchFamily="18" charset="0"/>
              </a:rPr>
              <a:t>Business questions are answered using SQL queries, joins, aggregations, subqueries, CTEs, and window functions. </a:t>
            </a:r>
          </a:p>
          <a:p>
            <a:pPr marL="114300" lvl="0" indent="0">
              <a:buNone/>
            </a:pPr>
            <a:endParaRPr lang="en-US" sz="1800" dirty="0">
              <a:latin typeface="Times New Roman" panose="02020603050405020304" pitchFamily="18" charset="0"/>
              <a:cs typeface="Times New Roman" panose="02020603050405020304" pitchFamily="18" charset="0"/>
            </a:endParaRPr>
          </a:p>
          <a:p>
            <a:pPr lvl="0"/>
            <a:r>
              <a:rPr lang="en-US" sz="1800" dirty="0">
                <a:latin typeface="Times New Roman" panose="02020603050405020304" pitchFamily="18" charset="0"/>
                <a:cs typeface="Times New Roman" panose="02020603050405020304" pitchFamily="18" charset="0"/>
              </a:rPr>
              <a:t>The analysis helps businesses improve delivery efficiency, reduce delays, and make better operational decisions.</a:t>
            </a:r>
          </a:p>
          <a:p>
            <a:pPr marL="114300" indent="0">
              <a:buNone/>
            </a:pPr>
            <a:endParaRPr lang="en-AE"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4165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5FD05-60FC-3413-2CD1-C7AA35A7740A}"/>
              </a:ext>
            </a:extLst>
          </p:cNvPr>
          <p:cNvSpPr>
            <a:spLocks noGrp="1"/>
          </p:cNvSpPr>
          <p:nvPr>
            <p:ph type="title"/>
          </p:nvPr>
        </p:nvSpPr>
        <p:spPr>
          <a:xfrm>
            <a:off x="838200" y="-450165"/>
            <a:ext cx="10515600" cy="1828799"/>
          </a:xfrm>
        </p:spPr>
        <p:txBody>
          <a:bodyPr>
            <a:normAutofit/>
          </a:bodyPr>
          <a:lstStyle/>
          <a:p>
            <a:pPr algn="ctr"/>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 of the Project</a:t>
            </a:r>
            <a:endParaRPr lang="en-US" sz="3200" dirty="0"/>
          </a:p>
        </p:txBody>
      </p:sp>
      <p:sp>
        <p:nvSpPr>
          <p:cNvPr id="3" name="Text Placeholder 2">
            <a:extLst>
              <a:ext uri="{FF2B5EF4-FFF2-40B4-BE49-F238E27FC236}">
                <a16:creationId xmlns:a16="http://schemas.microsoft.com/office/drawing/2014/main" id="{10C674FA-41DA-7000-B4AA-7B42E9D7B954}"/>
              </a:ext>
            </a:extLst>
          </p:cNvPr>
          <p:cNvSpPr>
            <a:spLocks noGrp="1"/>
          </p:cNvSpPr>
          <p:nvPr>
            <p:ph type="body" idx="1"/>
          </p:nvPr>
        </p:nvSpPr>
        <p:spPr>
          <a:xfrm>
            <a:off x="838200" y="1533378"/>
            <a:ext cx="10515600" cy="4643585"/>
          </a:xfrm>
        </p:spPr>
        <p:txBody>
          <a:bodyPr>
            <a:normAutofit/>
          </a:bodyPr>
          <a:lstStyle/>
          <a:p>
            <a:pPr lvl="0"/>
            <a:r>
              <a:rPr lang="en-US" sz="1800" dirty="0">
                <a:latin typeface="Times New Roman" panose="02020603050405020304" pitchFamily="18" charset="0"/>
                <a:cs typeface="Times New Roman" panose="02020603050405020304" pitchFamily="18" charset="0"/>
              </a:rPr>
              <a:t>Analyze delivery performance and identify factors affecting successful and timely deliveries. </a:t>
            </a:r>
          </a:p>
          <a:p>
            <a:pPr marL="114300" lvl="0" indent="0">
              <a:buNone/>
            </a:pPr>
            <a:endParaRPr lang="en-US" sz="1800" dirty="0">
              <a:latin typeface="Times New Roman" panose="02020603050405020304" pitchFamily="18" charset="0"/>
              <a:cs typeface="Times New Roman" panose="02020603050405020304" pitchFamily="18" charset="0"/>
            </a:endParaRPr>
          </a:p>
          <a:p>
            <a:pPr lvl="0"/>
            <a:r>
              <a:rPr lang="en-US" sz="1800" dirty="0">
                <a:latin typeface="Times New Roman" panose="02020603050405020304" pitchFamily="18" charset="0"/>
                <a:cs typeface="Times New Roman" panose="02020603050405020304" pitchFamily="18" charset="0"/>
              </a:rPr>
              <a:t>Evaluate driver and vehicle performance based on delivery activity and efficiency. </a:t>
            </a:r>
          </a:p>
          <a:p>
            <a:pPr marL="114300" lvl="0" indent="0">
              <a:buNone/>
            </a:pPr>
            <a:endParaRPr lang="en-US" sz="1800" dirty="0">
              <a:latin typeface="Times New Roman" panose="02020603050405020304" pitchFamily="18" charset="0"/>
              <a:cs typeface="Times New Roman" panose="02020603050405020304" pitchFamily="18" charset="0"/>
            </a:endParaRPr>
          </a:p>
          <a:p>
            <a:pPr lvl="0"/>
            <a:r>
              <a:rPr lang="en-US" sz="1800" dirty="0">
                <a:latin typeface="Times New Roman" panose="02020603050405020304" pitchFamily="18" charset="0"/>
                <a:cs typeface="Times New Roman" panose="02020603050405020304" pitchFamily="18" charset="0"/>
              </a:rPr>
              <a:t>Identify delivery delays and repeated delivery attempts to understand operational problems. </a:t>
            </a:r>
          </a:p>
          <a:p>
            <a:pPr marL="114300" lvl="0" indent="0">
              <a:buNone/>
            </a:pPr>
            <a:endParaRPr lang="en-US" sz="1800" dirty="0">
              <a:latin typeface="Times New Roman" panose="02020603050405020304" pitchFamily="18" charset="0"/>
              <a:cs typeface="Times New Roman" panose="02020603050405020304" pitchFamily="18" charset="0"/>
            </a:endParaRPr>
          </a:p>
          <a:p>
            <a:pPr lvl="0"/>
            <a:r>
              <a:rPr lang="en-US" sz="1800" dirty="0">
                <a:latin typeface="Times New Roman" panose="02020603050405020304" pitchFamily="18" charset="0"/>
                <a:cs typeface="Times New Roman" panose="02020603050405020304" pitchFamily="18" charset="0"/>
              </a:rPr>
              <a:t>Analyze customer and order patterns to understand ordering behavior and service demand. </a:t>
            </a:r>
          </a:p>
          <a:p>
            <a:pPr marL="114300" lvl="0" indent="0">
              <a:buNone/>
            </a:pPr>
            <a:endParaRPr lang="en-US" sz="1800" dirty="0">
              <a:latin typeface="Times New Roman" panose="02020603050405020304" pitchFamily="18" charset="0"/>
              <a:cs typeface="Times New Roman" panose="02020603050405020304" pitchFamily="18" charset="0"/>
            </a:endParaRPr>
          </a:p>
          <a:p>
            <a:pPr lvl="0"/>
            <a:r>
              <a:rPr lang="en-US" sz="1800" dirty="0">
                <a:latin typeface="Times New Roman" panose="02020603050405020304" pitchFamily="18" charset="0"/>
                <a:cs typeface="Times New Roman" panose="02020603050405020304" pitchFamily="18" charset="0"/>
              </a:rPr>
              <a:t>Generate actionable insights that can help improve delivery efficiency and customer satisfaction. </a:t>
            </a:r>
          </a:p>
          <a:p>
            <a:pPr marL="11430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49906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4E73C-CD18-0D81-B07F-523282566833}"/>
              </a:ext>
            </a:extLst>
          </p:cNvPr>
          <p:cNvSpPr>
            <a:spLocks noGrp="1"/>
          </p:cNvSpPr>
          <p:nvPr>
            <p:ph type="title"/>
          </p:nvPr>
        </p:nvSpPr>
        <p:spPr>
          <a:xfrm>
            <a:off x="570271" y="0"/>
            <a:ext cx="11051458" cy="801858"/>
          </a:xfrm>
        </p:spPr>
        <p:txBody>
          <a:bodyPr>
            <a:normAutofit fontScale="90000"/>
          </a:bodyPr>
          <a:lstStyle/>
          <a:p>
            <a:pPr algn="ctr"/>
            <a:br>
              <a:rPr lang="en-IN" b="1" dirty="0"/>
            </a:br>
            <a:r>
              <a:rPr lang="en-IN" sz="3600" b="1" dirty="0">
                <a:solidFill>
                  <a:schemeClr val="accent1">
                    <a:lumMod val="75000"/>
                  </a:schemeClr>
                </a:solidFill>
                <a:latin typeface="Times New Roman" panose="02020603050405020304" pitchFamily="18" charset="0"/>
                <a:cs typeface="Times New Roman" panose="02020603050405020304" pitchFamily="18" charset="0"/>
              </a:rPr>
              <a:t>Database Structure </a:t>
            </a:r>
            <a:br>
              <a:rPr lang="en-IN" b="1" dirty="0"/>
            </a:br>
            <a:endParaRPr lang="en-AE" dirty="0"/>
          </a:p>
        </p:txBody>
      </p:sp>
      <p:sp>
        <p:nvSpPr>
          <p:cNvPr id="3" name="Text Placeholder 2">
            <a:extLst>
              <a:ext uri="{FF2B5EF4-FFF2-40B4-BE49-F238E27FC236}">
                <a16:creationId xmlns:a16="http://schemas.microsoft.com/office/drawing/2014/main" id="{3D5666A4-0A7C-E0C0-5083-EDA37EE77C9C}"/>
              </a:ext>
            </a:extLst>
          </p:cNvPr>
          <p:cNvSpPr>
            <a:spLocks noGrp="1"/>
          </p:cNvSpPr>
          <p:nvPr>
            <p:ph type="body" idx="1"/>
          </p:nvPr>
        </p:nvSpPr>
        <p:spPr>
          <a:xfrm>
            <a:off x="599769" y="914400"/>
            <a:ext cx="11051458" cy="5303520"/>
          </a:xfrm>
        </p:spPr>
        <p:txBody>
          <a:bodyPr>
            <a:normAutofit/>
          </a:bodyPr>
          <a:lstStyle/>
          <a:p>
            <a:pPr marL="114300" lvl="0" indent="0">
              <a:buNone/>
            </a:pPr>
            <a:r>
              <a:rPr lang="en-US" sz="2000" dirty="0">
                <a:latin typeface="Times New Roman" panose="02020603050405020304" pitchFamily="18" charset="0"/>
                <a:cs typeface="Times New Roman" panose="02020603050405020304" pitchFamily="18" charset="0"/>
              </a:rPr>
              <a:t>The project database consists of </a:t>
            </a:r>
            <a:r>
              <a:rPr lang="en-US" sz="2000" b="1" dirty="0">
                <a:latin typeface="Times New Roman" panose="02020603050405020304" pitchFamily="18" charset="0"/>
                <a:cs typeface="Times New Roman" panose="02020603050405020304" pitchFamily="18" charset="0"/>
              </a:rPr>
              <a:t>5</a:t>
            </a:r>
            <a:r>
              <a:rPr lang="en-US" sz="2000" dirty="0">
                <a:latin typeface="Times New Roman" panose="02020603050405020304" pitchFamily="18" charset="0"/>
                <a:cs typeface="Times New Roman" panose="02020603050405020304" pitchFamily="18" charset="0"/>
              </a:rPr>
              <a:t> main tables: </a:t>
            </a:r>
          </a:p>
          <a:p>
            <a:pPr marL="114300" lvl="0" indent="0">
              <a:buNone/>
            </a:pPr>
            <a:r>
              <a:rPr lang="en-US" sz="1800" b="1" dirty="0">
                <a:latin typeface="Times New Roman" panose="02020603050405020304" pitchFamily="18" charset="0"/>
                <a:cs typeface="Times New Roman" panose="02020603050405020304" pitchFamily="18" charset="0"/>
              </a:rPr>
              <a:t>1.</a:t>
            </a:r>
            <a:r>
              <a:rPr lang="en-US" sz="2000" b="1" dirty="0">
                <a:latin typeface="Times New Roman" panose="02020603050405020304" pitchFamily="18" charset="0"/>
                <a:cs typeface="Times New Roman" panose="02020603050405020304" pitchFamily="18" charset="0"/>
              </a:rPr>
              <a:t>Customers</a:t>
            </a:r>
            <a:endParaRPr lang="en-US" sz="1800" b="1" dirty="0">
              <a:latin typeface="Times New Roman" panose="02020603050405020304" pitchFamily="18" charset="0"/>
              <a:cs typeface="Times New Roman" panose="02020603050405020304" pitchFamily="18" charset="0"/>
            </a:endParaRPr>
          </a:p>
          <a:p>
            <a:pPr marL="114300" lvl="0" indent="0">
              <a:buNone/>
            </a:pPr>
            <a:r>
              <a:rPr lang="en-US" sz="1800" b="1" dirty="0">
                <a:latin typeface="Times New Roman" panose="02020603050405020304" pitchFamily="18" charset="0"/>
                <a:cs typeface="Times New Roman" panose="02020603050405020304" pitchFamily="18" charset="0"/>
              </a:rPr>
              <a:t>2.</a:t>
            </a:r>
            <a:r>
              <a:rPr lang="en-US" sz="2000" b="1" dirty="0">
                <a:latin typeface="Times New Roman" panose="02020603050405020304" pitchFamily="18" charset="0"/>
                <a:cs typeface="Times New Roman" panose="02020603050405020304" pitchFamily="18" charset="0"/>
              </a:rPr>
              <a:t>Orders</a:t>
            </a:r>
            <a:endParaRPr lang="en-US" sz="1800" b="1" dirty="0">
              <a:latin typeface="Times New Roman" panose="02020603050405020304" pitchFamily="18" charset="0"/>
              <a:cs typeface="Times New Roman" panose="02020603050405020304" pitchFamily="18" charset="0"/>
            </a:endParaRPr>
          </a:p>
          <a:p>
            <a:pPr marL="114300" lvl="0" indent="0">
              <a:buNone/>
            </a:pPr>
            <a:r>
              <a:rPr lang="en-US" sz="2000" b="1" dirty="0">
                <a:latin typeface="Times New Roman" panose="02020603050405020304" pitchFamily="18" charset="0"/>
                <a:cs typeface="Times New Roman" panose="02020603050405020304" pitchFamily="18" charset="0"/>
              </a:rPr>
              <a:t>3.Drivers</a:t>
            </a:r>
            <a:endParaRPr lang="en-US" sz="1800" b="1" dirty="0">
              <a:latin typeface="Times New Roman" panose="02020603050405020304" pitchFamily="18" charset="0"/>
              <a:cs typeface="Times New Roman" panose="02020603050405020304" pitchFamily="18" charset="0"/>
            </a:endParaRPr>
          </a:p>
          <a:p>
            <a:pPr marL="114300" lvl="0" indent="0">
              <a:buNone/>
            </a:pPr>
            <a:r>
              <a:rPr lang="en-US" sz="1800" b="1" dirty="0">
                <a:latin typeface="Times New Roman" panose="02020603050405020304" pitchFamily="18" charset="0"/>
                <a:cs typeface="Times New Roman" panose="02020603050405020304" pitchFamily="18" charset="0"/>
              </a:rPr>
              <a:t>4. </a:t>
            </a:r>
            <a:r>
              <a:rPr lang="en-US" sz="2000" b="1" dirty="0">
                <a:latin typeface="Times New Roman" panose="02020603050405020304" pitchFamily="18" charset="0"/>
                <a:cs typeface="Times New Roman" panose="02020603050405020304" pitchFamily="18" charset="0"/>
              </a:rPr>
              <a:t>Vehicles</a:t>
            </a:r>
            <a:endParaRPr lang="en-US" sz="1800" b="1" dirty="0">
              <a:latin typeface="Times New Roman" panose="02020603050405020304" pitchFamily="18" charset="0"/>
              <a:cs typeface="Times New Roman" panose="02020603050405020304" pitchFamily="18" charset="0"/>
            </a:endParaRPr>
          </a:p>
          <a:p>
            <a:pPr marL="114300" lvl="0" indent="0">
              <a:buNone/>
            </a:pPr>
            <a:r>
              <a:rPr lang="en-US" sz="2000" b="1" dirty="0">
                <a:latin typeface="Times New Roman" panose="02020603050405020304" pitchFamily="18" charset="0"/>
                <a:cs typeface="Times New Roman" panose="02020603050405020304" pitchFamily="18" charset="0"/>
              </a:rPr>
              <a:t>5.Deliveries</a:t>
            </a:r>
            <a:endParaRPr lang="en-US" sz="1800" b="1" dirty="0">
              <a:latin typeface="Times New Roman" panose="02020603050405020304" pitchFamily="18" charset="0"/>
              <a:cs typeface="Times New Roman" panose="02020603050405020304" pitchFamily="18" charset="0"/>
            </a:endParaRPr>
          </a:p>
          <a:p>
            <a:pPr marL="114300" lvl="0" indent="0">
              <a:buNone/>
            </a:pPr>
            <a:endParaRPr lang="en-US" sz="1800" dirty="0">
              <a:latin typeface="Times New Roman" panose="02020603050405020304" pitchFamily="18" charset="0"/>
              <a:cs typeface="Times New Roman" panose="02020603050405020304" pitchFamily="18" charset="0"/>
            </a:endParaRPr>
          </a:p>
          <a:p>
            <a:pPr lvl="0"/>
            <a:r>
              <a:rPr lang="en-US" sz="1800" dirty="0">
                <a:latin typeface="Times New Roman" panose="02020603050405020304" pitchFamily="18" charset="0"/>
                <a:cs typeface="Times New Roman" panose="02020603050405020304" pitchFamily="18" charset="0"/>
              </a:rPr>
              <a:t>Each table stores specific information related to the delivery process, avoiding unnecessary duplication. </a:t>
            </a:r>
          </a:p>
          <a:p>
            <a:pPr lvl="0"/>
            <a:r>
              <a:rPr lang="en-US" sz="1800" b="1" dirty="0">
                <a:latin typeface="Times New Roman" panose="02020603050405020304" pitchFamily="18" charset="0"/>
                <a:cs typeface="Times New Roman" panose="02020603050405020304" pitchFamily="18" charset="0"/>
              </a:rPr>
              <a:t>Primary Keys</a:t>
            </a:r>
            <a:r>
              <a:rPr lang="en-US" sz="1800" dirty="0">
                <a:latin typeface="Times New Roman" panose="02020603050405020304" pitchFamily="18" charset="0"/>
                <a:cs typeface="Times New Roman" panose="02020603050405020304" pitchFamily="18" charset="0"/>
              </a:rPr>
              <a:t> uniquely identify each record, while </a:t>
            </a:r>
            <a:r>
              <a:rPr lang="en-US" sz="1800" b="1" dirty="0">
                <a:latin typeface="Times New Roman" panose="02020603050405020304" pitchFamily="18" charset="0"/>
                <a:cs typeface="Times New Roman" panose="02020603050405020304" pitchFamily="18" charset="0"/>
              </a:rPr>
              <a:t>Foreign Keys</a:t>
            </a:r>
            <a:r>
              <a:rPr lang="en-US" sz="1800" dirty="0">
                <a:latin typeface="Times New Roman" panose="02020603050405020304" pitchFamily="18" charset="0"/>
                <a:cs typeface="Times New Roman" panose="02020603050405020304" pitchFamily="18" charset="0"/>
              </a:rPr>
              <a:t> establish relationships between tables. </a:t>
            </a:r>
          </a:p>
          <a:p>
            <a:pPr lvl="0"/>
            <a:r>
              <a:rPr lang="en-US" sz="1800" dirty="0">
                <a:latin typeface="Times New Roman" panose="02020603050405020304" pitchFamily="18" charset="0"/>
                <a:cs typeface="Times New Roman" panose="02020603050405020304" pitchFamily="18" charset="0"/>
              </a:rPr>
              <a:t>The Deliveries table acts as the central table, connecting orders with the assigned drivers and vehicles. </a:t>
            </a:r>
          </a:p>
          <a:p>
            <a:pPr lvl="0"/>
            <a:r>
              <a:rPr lang="en-US" sz="1800" dirty="0">
                <a:latin typeface="Times New Roman" panose="02020603050405020304" pitchFamily="18" charset="0"/>
                <a:cs typeface="Times New Roman" panose="02020603050405020304" pitchFamily="18" charset="0"/>
              </a:rPr>
              <a:t>These relationships allow us to combine data from different tables and perform meaningful SQL analysis.</a:t>
            </a:r>
          </a:p>
          <a:p>
            <a:endParaRPr lang="en-A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9232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5EED3-B30A-BC78-0F7E-CD859EE1EED2}"/>
              </a:ext>
            </a:extLst>
          </p:cNvPr>
          <p:cNvSpPr>
            <a:spLocks noGrp="1"/>
          </p:cNvSpPr>
          <p:nvPr>
            <p:ph type="title"/>
          </p:nvPr>
        </p:nvSpPr>
        <p:spPr>
          <a:xfrm>
            <a:off x="616634" y="0"/>
            <a:ext cx="10958731" cy="815926"/>
          </a:xfrm>
        </p:spPr>
        <p:txBody>
          <a:bodyPr>
            <a:normAutofit/>
          </a:bodyPr>
          <a:lstStyle/>
          <a:p>
            <a:pPr algn="ctr"/>
            <a:r>
              <a:rPr lang="en-IN" sz="3200" b="1" dirty="0">
                <a:solidFill>
                  <a:schemeClr val="accent1">
                    <a:lumMod val="75000"/>
                  </a:schemeClr>
                </a:solidFill>
                <a:latin typeface="Times New Roman" panose="02020603050405020304" pitchFamily="18" charset="0"/>
                <a:cs typeface="Times New Roman" panose="02020603050405020304" pitchFamily="18" charset="0"/>
              </a:rPr>
              <a:t>ER Diagram</a:t>
            </a:r>
            <a:r>
              <a:rPr lang="en-IN" b="1" dirty="0">
                <a:solidFill>
                  <a:schemeClr val="accent1">
                    <a:lumMod val="75000"/>
                  </a:schemeClr>
                </a:solidFill>
                <a:latin typeface="+mn-lt"/>
              </a:rPr>
              <a:t>  </a:t>
            </a:r>
            <a:endParaRPr lang="en-AE" b="1" dirty="0">
              <a:solidFill>
                <a:schemeClr val="accent1">
                  <a:lumMod val="75000"/>
                </a:schemeClr>
              </a:solidFill>
              <a:latin typeface="+mn-lt"/>
            </a:endParaRPr>
          </a:p>
        </p:txBody>
      </p:sp>
      <p:pic>
        <p:nvPicPr>
          <p:cNvPr id="4" name="Picture 3">
            <a:extLst>
              <a:ext uri="{FF2B5EF4-FFF2-40B4-BE49-F238E27FC236}">
                <a16:creationId xmlns:a16="http://schemas.microsoft.com/office/drawing/2014/main" id="{348B50AF-2ACA-E48C-5F1D-2ACFBEA0416A}"/>
              </a:ext>
            </a:extLst>
          </p:cNvPr>
          <p:cNvPicPr>
            <a:picLocks noChangeAspect="1"/>
          </p:cNvPicPr>
          <p:nvPr/>
        </p:nvPicPr>
        <p:blipFill>
          <a:blip r:embed="rId2"/>
          <a:stretch>
            <a:fillRect/>
          </a:stretch>
        </p:blipFill>
        <p:spPr>
          <a:xfrm>
            <a:off x="2264899" y="828674"/>
            <a:ext cx="7554350" cy="5375177"/>
          </a:xfrm>
          <a:prstGeom prst="rect">
            <a:avLst/>
          </a:prstGeom>
        </p:spPr>
      </p:pic>
    </p:spTree>
    <p:extLst>
      <p:ext uri="{BB962C8B-B14F-4D97-AF65-F5344CB8AC3E}">
        <p14:creationId xmlns:p14="http://schemas.microsoft.com/office/powerpoint/2010/main" val="654001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E6572-44CD-E72F-11AE-FDCD3A20DC05}"/>
              </a:ext>
            </a:extLst>
          </p:cNvPr>
          <p:cNvSpPr>
            <a:spLocks noGrp="1"/>
          </p:cNvSpPr>
          <p:nvPr>
            <p:ph type="title"/>
          </p:nvPr>
        </p:nvSpPr>
        <p:spPr>
          <a:xfrm>
            <a:off x="657725" y="188450"/>
            <a:ext cx="10908631" cy="863600"/>
          </a:xfrm>
        </p:spPr>
        <p:txBody>
          <a:bodyPr>
            <a:noAutofit/>
          </a:bodyPr>
          <a:lstStyle/>
          <a:p>
            <a:pPr algn="ctr"/>
            <a:r>
              <a:rPr lang="en-IN" sz="3200" b="1" dirty="0">
                <a:solidFill>
                  <a:schemeClr val="accent1">
                    <a:lumMod val="75000"/>
                  </a:schemeClr>
                </a:solidFill>
                <a:latin typeface="Times New Roman" panose="02020603050405020304" pitchFamily="18" charset="0"/>
                <a:cs typeface="Times New Roman" panose="02020603050405020304" pitchFamily="18" charset="0"/>
              </a:rPr>
              <a:t>Key Analysis Questions</a:t>
            </a:r>
            <a:br>
              <a:rPr lang="en-AE" sz="3200" b="1" dirty="0">
                <a:solidFill>
                  <a:schemeClr val="accent1">
                    <a:lumMod val="75000"/>
                  </a:schemeClr>
                </a:solidFill>
                <a:latin typeface="Times New Roman" panose="02020603050405020304" pitchFamily="18" charset="0"/>
                <a:cs typeface="Times New Roman" panose="02020603050405020304" pitchFamily="18" charset="0"/>
              </a:rPr>
            </a:br>
            <a:endParaRPr lang="en-AE"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DAF54BB7-72DC-B53C-6BBF-96A76DCD3D1D}"/>
              </a:ext>
            </a:extLst>
          </p:cNvPr>
          <p:cNvSpPr>
            <a:spLocks noGrp="1"/>
          </p:cNvSpPr>
          <p:nvPr>
            <p:ph type="body" idx="1"/>
          </p:nvPr>
        </p:nvSpPr>
        <p:spPr>
          <a:xfrm>
            <a:off x="625644" y="1484672"/>
            <a:ext cx="10908631" cy="4316361"/>
          </a:xfrm>
        </p:spPr>
        <p:txBody>
          <a:bodyPr>
            <a:normAutofit fontScale="32500" lnSpcReduction="20000"/>
          </a:bodyPr>
          <a:lstStyle/>
          <a:p>
            <a:pPr marL="114300" indent="0">
              <a:buNone/>
            </a:pPr>
            <a:r>
              <a:rPr lang="en-US" sz="6200" b="1" dirty="0">
                <a:latin typeface="Times New Roman" panose="02020603050405020304" pitchFamily="18" charset="0"/>
                <a:cs typeface="Times New Roman" panose="02020603050405020304" pitchFamily="18" charset="0"/>
              </a:rPr>
              <a:t>What is the total number of customers?</a:t>
            </a:r>
          </a:p>
          <a:p>
            <a:pPr marL="114300" indent="0">
              <a:buNone/>
            </a:pPr>
            <a:endParaRPr lang="en-US" sz="8000" b="1" dirty="0"/>
          </a:p>
          <a:p>
            <a:pPr marL="114300" indent="0">
              <a:buNone/>
            </a:pPr>
            <a:endParaRPr lang="en-AE" sz="8000" b="1" dirty="0"/>
          </a:p>
          <a:p>
            <a:pPr marL="114300" indent="0">
              <a:buNone/>
            </a:pPr>
            <a:r>
              <a:rPr lang="en-AE" sz="8000" b="1" dirty="0"/>
              <a:t>   </a:t>
            </a:r>
            <a:r>
              <a:rPr lang="en-AE" sz="6200" b="1" dirty="0"/>
              <a:t>Output </a:t>
            </a:r>
            <a:endParaRPr lang="en-AE" sz="8000" b="1" dirty="0"/>
          </a:p>
          <a:p>
            <a:pPr marL="114300" indent="0">
              <a:buNone/>
            </a:pPr>
            <a:endParaRPr lang="en-AE" sz="8000" b="1" dirty="0"/>
          </a:p>
          <a:p>
            <a:pPr marL="114300" indent="0">
              <a:buNone/>
            </a:pPr>
            <a:endParaRPr lang="en-AE" sz="8000" b="1" dirty="0"/>
          </a:p>
          <a:p>
            <a:pPr lvl="0" algn="just"/>
            <a:endParaRPr lang="en-AE" sz="5500" dirty="0">
              <a:latin typeface="Times New Roman" panose="02020603050405020304" pitchFamily="18" charset="0"/>
              <a:cs typeface="Times New Roman" panose="02020603050405020304" pitchFamily="18" charset="0"/>
            </a:endParaRPr>
          </a:p>
          <a:p>
            <a:pPr lvl="0" algn="just"/>
            <a:r>
              <a:rPr lang="en-AE" sz="5500" dirty="0">
                <a:latin typeface="Times New Roman" panose="02020603050405020304" pitchFamily="18" charset="0"/>
                <a:cs typeface="Times New Roman" panose="02020603050405020304" pitchFamily="18" charset="0"/>
              </a:rPr>
              <a:t>The COUNT(*) query successfully retrieves the </a:t>
            </a:r>
            <a:r>
              <a:rPr lang="en-AE" sz="5500" b="1" dirty="0">
                <a:latin typeface="Times New Roman" panose="02020603050405020304" pitchFamily="18" charset="0"/>
                <a:cs typeface="Times New Roman" panose="02020603050405020304" pitchFamily="18" charset="0"/>
              </a:rPr>
              <a:t>total number of customers</a:t>
            </a:r>
            <a:r>
              <a:rPr lang="en-AE" sz="5500" dirty="0">
                <a:latin typeface="Times New Roman" panose="02020603050405020304" pitchFamily="18" charset="0"/>
                <a:cs typeface="Times New Roman" panose="02020603050405020304" pitchFamily="18" charset="0"/>
              </a:rPr>
              <a:t> from the customers table.</a:t>
            </a:r>
          </a:p>
          <a:p>
            <a:pPr marL="114300" indent="0">
              <a:buNone/>
            </a:pPr>
            <a:endParaRPr lang="en-AE" sz="5500" b="1" dirty="0">
              <a:latin typeface="Times New Roman" panose="02020603050405020304" pitchFamily="18" charset="0"/>
              <a:cs typeface="Times New Roman" panose="02020603050405020304" pitchFamily="18" charset="0"/>
            </a:endParaRPr>
          </a:p>
          <a:p>
            <a:pPr marL="114300" indent="0">
              <a:buNone/>
            </a:pPr>
            <a:endParaRPr lang="en-AE" sz="4800" b="1" dirty="0"/>
          </a:p>
          <a:p>
            <a:pPr marL="114300" indent="0">
              <a:buNone/>
            </a:pPr>
            <a:endParaRPr lang="en-AE" sz="4800" b="1" dirty="0"/>
          </a:p>
          <a:p>
            <a:pPr marL="114300" indent="0">
              <a:buNone/>
            </a:pPr>
            <a:r>
              <a:rPr lang="en-AE" sz="2400" b="1" dirty="0"/>
              <a:t> </a:t>
            </a:r>
          </a:p>
        </p:txBody>
      </p:sp>
      <p:pic>
        <p:nvPicPr>
          <p:cNvPr id="7" name="Picture 6">
            <a:extLst>
              <a:ext uri="{FF2B5EF4-FFF2-40B4-BE49-F238E27FC236}">
                <a16:creationId xmlns:a16="http://schemas.microsoft.com/office/drawing/2014/main" id="{60CC0EA3-92BB-6FD0-4ABE-AF00D6BA788B}"/>
              </a:ext>
            </a:extLst>
          </p:cNvPr>
          <p:cNvPicPr>
            <a:picLocks noChangeAspect="1"/>
          </p:cNvPicPr>
          <p:nvPr/>
        </p:nvPicPr>
        <p:blipFill>
          <a:blip r:embed="rId2"/>
          <a:stretch>
            <a:fillRect/>
          </a:stretch>
        </p:blipFill>
        <p:spPr>
          <a:xfrm>
            <a:off x="884718" y="2083092"/>
            <a:ext cx="4931926" cy="444142"/>
          </a:xfrm>
          <a:prstGeom prst="rect">
            <a:avLst/>
          </a:prstGeom>
        </p:spPr>
      </p:pic>
      <p:pic>
        <p:nvPicPr>
          <p:cNvPr id="10" name="Picture 9">
            <a:extLst>
              <a:ext uri="{FF2B5EF4-FFF2-40B4-BE49-F238E27FC236}">
                <a16:creationId xmlns:a16="http://schemas.microsoft.com/office/drawing/2014/main" id="{98D6A023-E77C-C2DE-DC7C-4FFB8EE77A8A}"/>
              </a:ext>
            </a:extLst>
          </p:cNvPr>
          <p:cNvPicPr>
            <a:picLocks noChangeAspect="1"/>
          </p:cNvPicPr>
          <p:nvPr/>
        </p:nvPicPr>
        <p:blipFill>
          <a:blip r:embed="rId3"/>
          <a:stretch>
            <a:fillRect/>
          </a:stretch>
        </p:blipFill>
        <p:spPr>
          <a:xfrm>
            <a:off x="884718" y="3226838"/>
            <a:ext cx="1903913" cy="786368"/>
          </a:xfrm>
          <a:prstGeom prst="rect">
            <a:avLst/>
          </a:prstGeom>
        </p:spPr>
      </p:pic>
    </p:spTree>
    <p:extLst>
      <p:ext uri="{BB962C8B-B14F-4D97-AF65-F5344CB8AC3E}">
        <p14:creationId xmlns:p14="http://schemas.microsoft.com/office/powerpoint/2010/main" val="13603576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966CA-ECA2-E515-4A9C-743AFF708E73}"/>
              </a:ext>
            </a:extLst>
          </p:cNvPr>
          <p:cNvSpPr>
            <a:spLocks noGrp="1"/>
          </p:cNvSpPr>
          <p:nvPr>
            <p:ph type="title"/>
          </p:nvPr>
        </p:nvSpPr>
        <p:spPr>
          <a:xfrm>
            <a:off x="838200" y="167148"/>
            <a:ext cx="10515600" cy="771834"/>
          </a:xfrm>
        </p:spPr>
        <p:txBody>
          <a:bodyPr>
            <a:normAutofit/>
          </a:bodyPr>
          <a:lstStyle/>
          <a:p>
            <a:r>
              <a:rPr lang="en-US" sz="2000" b="1" dirty="0">
                <a:latin typeface="Times New Roman" panose="02020603050405020304" pitchFamily="18" charset="0"/>
                <a:cs typeface="Times New Roman" panose="02020603050405020304" pitchFamily="18" charset="0"/>
              </a:rPr>
              <a:t>What is the total number of orders?</a:t>
            </a:r>
            <a:endParaRPr lang="en-AE" sz="20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04A3E14F-2A27-B95B-167A-7C3600755845}"/>
              </a:ext>
            </a:extLst>
          </p:cNvPr>
          <p:cNvSpPr>
            <a:spLocks noGrp="1"/>
          </p:cNvSpPr>
          <p:nvPr>
            <p:ph type="body" idx="1"/>
          </p:nvPr>
        </p:nvSpPr>
        <p:spPr>
          <a:xfrm>
            <a:off x="838200" y="1101213"/>
            <a:ext cx="10515600" cy="5043947"/>
          </a:xfrm>
        </p:spPr>
        <p:txBody>
          <a:bodyPr>
            <a:normAutofit/>
          </a:bodyPr>
          <a:lstStyle/>
          <a:p>
            <a:pPr marL="114300" indent="0">
              <a:buNone/>
            </a:pPr>
            <a:endParaRPr lang="en-IN" b="1" dirty="0"/>
          </a:p>
          <a:p>
            <a:pPr marL="114300" indent="0">
              <a:buNone/>
            </a:pPr>
            <a:r>
              <a:rPr lang="en-IN" sz="2000" b="1" dirty="0"/>
              <a:t>Output</a:t>
            </a:r>
            <a:r>
              <a:rPr lang="en-IN" b="1" dirty="0"/>
              <a:t> </a:t>
            </a:r>
          </a:p>
          <a:p>
            <a:pPr marL="114300" indent="0">
              <a:buNone/>
            </a:pPr>
            <a:endParaRPr lang="en-IN" b="1" dirty="0"/>
          </a:p>
          <a:p>
            <a:pPr marL="114300" indent="0">
              <a:buNone/>
            </a:pPr>
            <a:endParaRPr lang="en-AE" b="1" dirty="0"/>
          </a:p>
          <a:p>
            <a:pPr marL="114300" indent="0">
              <a:buNone/>
            </a:pPr>
            <a:r>
              <a:rPr lang="en-AE" sz="2000" dirty="0">
                <a:latin typeface="Times New Roman" panose="02020603050405020304" pitchFamily="18" charset="0"/>
                <a:cs typeface="Times New Roman" panose="02020603050405020304" pitchFamily="18" charset="0"/>
              </a:rPr>
              <a:t>The COUNT(*) query successfully retrieves the </a:t>
            </a:r>
            <a:r>
              <a:rPr lang="en-AE" sz="2000" b="1" dirty="0">
                <a:latin typeface="Times New Roman" panose="02020603050405020304" pitchFamily="18" charset="0"/>
                <a:cs typeface="Times New Roman" panose="02020603050405020304" pitchFamily="18" charset="0"/>
              </a:rPr>
              <a:t>total number of orders</a:t>
            </a:r>
            <a:r>
              <a:rPr lang="en-AE" sz="2000" dirty="0">
                <a:latin typeface="Times New Roman" panose="02020603050405020304" pitchFamily="18" charset="0"/>
                <a:cs typeface="Times New Roman" panose="02020603050405020304" pitchFamily="18" charset="0"/>
              </a:rPr>
              <a:t> from the orders table.</a:t>
            </a:r>
          </a:p>
          <a:p>
            <a:pPr marL="114300" indent="0">
              <a:buNone/>
            </a:pPr>
            <a:endParaRPr lang="en-AE" b="1" dirty="0"/>
          </a:p>
        </p:txBody>
      </p:sp>
      <p:pic>
        <p:nvPicPr>
          <p:cNvPr id="6" name="Picture 5">
            <a:extLst>
              <a:ext uri="{FF2B5EF4-FFF2-40B4-BE49-F238E27FC236}">
                <a16:creationId xmlns:a16="http://schemas.microsoft.com/office/drawing/2014/main" id="{B68B0773-CD19-ACAE-16FF-F56961DDA1E2}"/>
              </a:ext>
            </a:extLst>
          </p:cNvPr>
          <p:cNvPicPr>
            <a:picLocks noChangeAspect="1"/>
          </p:cNvPicPr>
          <p:nvPr/>
        </p:nvPicPr>
        <p:blipFill>
          <a:blip r:embed="rId2"/>
          <a:stretch>
            <a:fillRect/>
          </a:stretch>
        </p:blipFill>
        <p:spPr>
          <a:xfrm>
            <a:off x="838200" y="923621"/>
            <a:ext cx="5382718" cy="487533"/>
          </a:xfrm>
          <a:prstGeom prst="rect">
            <a:avLst/>
          </a:prstGeom>
        </p:spPr>
      </p:pic>
      <p:pic>
        <p:nvPicPr>
          <p:cNvPr id="9" name="Picture 8">
            <a:extLst>
              <a:ext uri="{FF2B5EF4-FFF2-40B4-BE49-F238E27FC236}">
                <a16:creationId xmlns:a16="http://schemas.microsoft.com/office/drawing/2014/main" id="{59855728-E0C3-666B-6F51-54CF65440973}"/>
              </a:ext>
            </a:extLst>
          </p:cNvPr>
          <p:cNvPicPr>
            <a:picLocks noChangeAspect="1"/>
          </p:cNvPicPr>
          <p:nvPr/>
        </p:nvPicPr>
        <p:blipFill>
          <a:blip r:embed="rId3"/>
          <a:stretch>
            <a:fillRect/>
          </a:stretch>
        </p:blipFill>
        <p:spPr>
          <a:xfrm>
            <a:off x="1069172" y="2349365"/>
            <a:ext cx="1689019" cy="952528"/>
          </a:xfrm>
          <a:prstGeom prst="rect">
            <a:avLst/>
          </a:prstGeom>
        </p:spPr>
      </p:pic>
    </p:spTree>
    <p:extLst>
      <p:ext uri="{BB962C8B-B14F-4D97-AF65-F5344CB8AC3E}">
        <p14:creationId xmlns:p14="http://schemas.microsoft.com/office/powerpoint/2010/main" val="959097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23AE0-4C00-227B-162D-69080CAF61D5}"/>
              </a:ext>
            </a:extLst>
          </p:cNvPr>
          <p:cNvSpPr>
            <a:spLocks noGrp="1"/>
          </p:cNvSpPr>
          <p:nvPr>
            <p:ph type="title"/>
          </p:nvPr>
        </p:nvSpPr>
        <p:spPr>
          <a:xfrm>
            <a:off x="838200" y="365125"/>
            <a:ext cx="10515600" cy="627933"/>
          </a:xfrm>
        </p:spPr>
        <p:txBody>
          <a:bodyPr>
            <a:normAutofit/>
          </a:bodyPr>
          <a:lstStyle/>
          <a:p>
            <a:r>
              <a:rPr lang="en-US" sz="2000" b="1" dirty="0">
                <a:latin typeface="Times New Roman" panose="02020603050405020304" pitchFamily="18" charset="0"/>
                <a:cs typeface="Times New Roman" panose="02020603050405020304" pitchFamily="18" charset="0"/>
              </a:rPr>
              <a:t>What is the total number of deliveries?</a:t>
            </a:r>
            <a:endParaRPr lang="en-AE" sz="20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6CD5DD7B-9A26-0858-FC72-8457DEE27883}"/>
              </a:ext>
            </a:extLst>
          </p:cNvPr>
          <p:cNvSpPr>
            <a:spLocks noGrp="1"/>
          </p:cNvSpPr>
          <p:nvPr>
            <p:ph type="body" idx="1"/>
          </p:nvPr>
        </p:nvSpPr>
        <p:spPr>
          <a:xfrm>
            <a:off x="838200" y="1209368"/>
            <a:ext cx="10515600" cy="4967595"/>
          </a:xfrm>
        </p:spPr>
        <p:txBody>
          <a:bodyPr>
            <a:normAutofit/>
          </a:bodyPr>
          <a:lstStyle/>
          <a:p>
            <a:pPr marL="114300" indent="0">
              <a:buNone/>
            </a:pPr>
            <a:endParaRPr lang="en-IN" sz="2400" b="1" dirty="0"/>
          </a:p>
          <a:p>
            <a:pPr marL="114300" indent="0">
              <a:buNone/>
            </a:pPr>
            <a:r>
              <a:rPr lang="en-AE" sz="2000" b="1" dirty="0"/>
              <a:t>Output </a:t>
            </a:r>
          </a:p>
          <a:p>
            <a:pPr marL="114300" indent="0">
              <a:buNone/>
            </a:pPr>
            <a:endParaRPr lang="en-AE" sz="2400" b="1" dirty="0"/>
          </a:p>
          <a:p>
            <a:pPr marL="114300" indent="0">
              <a:buNone/>
            </a:pPr>
            <a:endParaRPr lang="en-AE" sz="2400" b="1" dirty="0"/>
          </a:p>
          <a:p>
            <a:pPr algn="just"/>
            <a:r>
              <a:rPr lang="en-AE" sz="2000" b="1" dirty="0"/>
              <a:t> </a:t>
            </a:r>
            <a:r>
              <a:rPr lang="en-AE" sz="2000" dirty="0">
                <a:latin typeface="Times New Roman" panose="02020603050405020304" pitchFamily="18" charset="0"/>
                <a:cs typeface="Times New Roman" panose="02020603050405020304" pitchFamily="18" charset="0"/>
              </a:rPr>
              <a:t>The COUNT(*) query successfully retrieves the </a:t>
            </a:r>
            <a:r>
              <a:rPr lang="en-AE" sz="2000" b="1" dirty="0">
                <a:latin typeface="Times New Roman" panose="02020603050405020304" pitchFamily="18" charset="0"/>
                <a:cs typeface="Times New Roman" panose="02020603050405020304" pitchFamily="18" charset="0"/>
              </a:rPr>
              <a:t>total number of deliveries</a:t>
            </a:r>
            <a:r>
              <a:rPr lang="en-AE" sz="2000" dirty="0">
                <a:latin typeface="Times New Roman" panose="02020603050405020304" pitchFamily="18" charset="0"/>
                <a:cs typeface="Times New Roman" panose="02020603050405020304" pitchFamily="18" charset="0"/>
              </a:rPr>
              <a:t> from the deliveries table.</a:t>
            </a:r>
          </a:p>
          <a:p>
            <a:pPr marL="114300" indent="0" algn="just">
              <a:buNone/>
            </a:pPr>
            <a:endParaRPr lang="en-IN" sz="2400" b="1" dirty="0"/>
          </a:p>
        </p:txBody>
      </p:sp>
      <p:pic>
        <p:nvPicPr>
          <p:cNvPr id="6" name="Picture 5">
            <a:extLst>
              <a:ext uri="{FF2B5EF4-FFF2-40B4-BE49-F238E27FC236}">
                <a16:creationId xmlns:a16="http://schemas.microsoft.com/office/drawing/2014/main" id="{CD1346BE-F1EF-A73F-39FA-3B7A13261E60}"/>
              </a:ext>
            </a:extLst>
          </p:cNvPr>
          <p:cNvPicPr>
            <a:picLocks noChangeAspect="1"/>
          </p:cNvPicPr>
          <p:nvPr/>
        </p:nvPicPr>
        <p:blipFill>
          <a:blip r:embed="rId2"/>
          <a:stretch>
            <a:fillRect/>
          </a:stretch>
        </p:blipFill>
        <p:spPr>
          <a:xfrm>
            <a:off x="915807" y="1209368"/>
            <a:ext cx="5604914" cy="421165"/>
          </a:xfrm>
          <a:prstGeom prst="rect">
            <a:avLst/>
          </a:prstGeom>
        </p:spPr>
      </p:pic>
      <p:pic>
        <p:nvPicPr>
          <p:cNvPr id="9" name="Picture 8">
            <a:extLst>
              <a:ext uri="{FF2B5EF4-FFF2-40B4-BE49-F238E27FC236}">
                <a16:creationId xmlns:a16="http://schemas.microsoft.com/office/drawing/2014/main" id="{145690CC-D6B7-4B2C-A8B6-3623FCC90139}"/>
              </a:ext>
            </a:extLst>
          </p:cNvPr>
          <p:cNvPicPr>
            <a:picLocks noChangeAspect="1"/>
          </p:cNvPicPr>
          <p:nvPr/>
        </p:nvPicPr>
        <p:blipFill>
          <a:blip r:embed="rId3"/>
          <a:stretch>
            <a:fillRect/>
          </a:stretch>
        </p:blipFill>
        <p:spPr>
          <a:xfrm>
            <a:off x="915807" y="2218545"/>
            <a:ext cx="1947314" cy="809468"/>
          </a:xfrm>
          <a:prstGeom prst="rect">
            <a:avLst/>
          </a:prstGeom>
        </p:spPr>
      </p:pic>
    </p:spTree>
    <p:extLst>
      <p:ext uri="{BB962C8B-B14F-4D97-AF65-F5344CB8AC3E}">
        <p14:creationId xmlns:p14="http://schemas.microsoft.com/office/powerpoint/2010/main" val="1661680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CF030-9B5E-6641-F5F4-158FD2A78513}"/>
              </a:ext>
            </a:extLst>
          </p:cNvPr>
          <p:cNvSpPr>
            <a:spLocks noGrp="1"/>
          </p:cNvSpPr>
          <p:nvPr>
            <p:ph type="title"/>
          </p:nvPr>
        </p:nvSpPr>
        <p:spPr>
          <a:xfrm>
            <a:off x="838200" y="681036"/>
            <a:ext cx="10515600" cy="613191"/>
          </a:xfrm>
        </p:spPr>
        <p:txBody>
          <a:bodyPr>
            <a:normAutofit/>
          </a:bodyPr>
          <a:lstStyle/>
          <a:p>
            <a:r>
              <a:rPr lang="en-US" sz="2000" b="1" dirty="0">
                <a:latin typeface="Times New Roman" panose="02020603050405020304" pitchFamily="18" charset="0"/>
                <a:cs typeface="Times New Roman" panose="02020603050405020304" pitchFamily="18" charset="0"/>
              </a:rPr>
              <a:t>What are the different service types available?</a:t>
            </a:r>
          </a:p>
        </p:txBody>
      </p:sp>
      <p:sp>
        <p:nvSpPr>
          <p:cNvPr id="3" name="Text Placeholder 2">
            <a:extLst>
              <a:ext uri="{FF2B5EF4-FFF2-40B4-BE49-F238E27FC236}">
                <a16:creationId xmlns:a16="http://schemas.microsoft.com/office/drawing/2014/main" id="{0B787A9A-3A47-36E9-6752-92938A7020A2}"/>
              </a:ext>
            </a:extLst>
          </p:cNvPr>
          <p:cNvSpPr>
            <a:spLocks noGrp="1"/>
          </p:cNvSpPr>
          <p:nvPr>
            <p:ph type="body" idx="1"/>
          </p:nvPr>
        </p:nvSpPr>
        <p:spPr>
          <a:xfrm>
            <a:off x="838200" y="1294228"/>
            <a:ext cx="10515600" cy="4882735"/>
          </a:xfrm>
        </p:spPr>
        <p:txBody>
          <a:bodyPr/>
          <a:lstStyle/>
          <a:p>
            <a:pPr marL="114300" indent="0">
              <a:buNone/>
            </a:pPr>
            <a:endParaRPr lang="en-IN" b="1" dirty="0"/>
          </a:p>
          <a:p>
            <a:pPr marL="114300" indent="0">
              <a:buNone/>
            </a:pPr>
            <a:r>
              <a:rPr lang="en-IN" sz="2000" b="1" dirty="0"/>
              <a:t>Output  </a:t>
            </a:r>
          </a:p>
          <a:p>
            <a:pPr marL="114300" indent="0">
              <a:buNone/>
            </a:pPr>
            <a:endParaRPr lang="en-IN" b="1" dirty="0"/>
          </a:p>
          <a:p>
            <a:endParaRPr lang="en-IN" b="1" dirty="0"/>
          </a:p>
          <a:p>
            <a:endParaRPr lang="en-IN" b="1" dirty="0"/>
          </a:p>
          <a:p>
            <a:endParaRPr lang="en-IN" b="1" dirty="0"/>
          </a:p>
          <a:p>
            <a:r>
              <a:rPr lang="en-US" sz="1800" dirty="0">
                <a:latin typeface="Times New Roman" panose="02020603050405020304" pitchFamily="18" charset="0"/>
                <a:cs typeface="Times New Roman" panose="02020603050405020304" pitchFamily="18" charset="0"/>
              </a:rPr>
              <a:t>Distinct retrieves unique service types that means remove duplicates from the result</a:t>
            </a:r>
            <a:r>
              <a:rPr lang="en-US" sz="2000" dirty="0">
                <a:latin typeface="Times New Roman" panose="02020603050405020304" pitchFamily="18" charset="0"/>
                <a:cs typeface="Times New Roman" panose="02020603050405020304" pitchFamily="18" charset="0"/>
              </a:rPr>
              <a:t>.</a:t>
            </a:r>
          </a:p>
        </p:txBody>
      </p:sp>
      <p:pic>
        <p:nvPicPr>
          <p:cNvPr id="5" name="Picture 4">
            <a:extLst>
              <a:ext uri="{FF2B5EF4-FFF2-40B4-BE49-F238E27FC236}">
                <a16:creationId xmlns:a16="http://schemas.microsoft.com/office/drawing/2014/main" id="{68745667-AE9E-1A50-96EC-11690D3DFADF}"/>
              </a:ext>
            </a:extLst>
          </p:cNvPr>
          <p:cNvPicPr>
            <a:picLocks noChangeAspect="1"/>
          </p:cNvPicPr>
          <p:nvPr/>
        </p:nvPicPr>
        <p:blipFill>
          <a:blip r:embed="rId2"/>
          <a:stretch>
            <a:fillRect/>
          </a:stretch>
        </p:blipFill>
        <p:spPr>
          <a:xfrm>
            <a:off x="838200" y="1294227"/>
            <a:ext cx="5435991" cy="393896"/>
          </a:xfrm>
          <a:prstGeom prst="rect">
            <a:avLst/>
          </a:prstGeom>
        </p:spPr>
      </p:pic>
      <p:pic>
        <p:nvPicPr>
          <p:cNvPr id="8" name="Picture 7">
            <a:extLst>
              <a:ext uri="{FF2B5EF4-FFF2-40B4-BE49-F238E27FC236}">
                <a16:creationId xmlns:a16="http://schemas.microsoft.com/office/drawing/2014/main" id="{71539630-9326-C1F7-A6CD-9C4F35DDFA24}"/>
              </a:ext>
            </a:extLst>
          </p:cNvPr>
          <p:cNvPicPr>
            <a:picLocks noChangeAspect="1"/>
          </p:cNvPicPr>
          <p:nvPr/>
        </p:nvPicPr>
        <p:blipFill>
          <a:blip r:embed="rId3"/>
          <a:stretch>
            <a:fillRect/>
          </a:stretch>
        </p:blipFill>
        <p:spPr>
          <a:xfrm>
            <a:off x="1069144" y="2493498"/>
            <a:ext cx="1575582" cy="1473591"/>
          </a:xfrm>
          <a:prstGeom prst="rect">
            <a:avLst/>
          </a:prstGeom>
        </p:spPr>
      </p:pic>
    </p:spTree>
    <p:extLst>
      <p:ext uri="{BB962C8B-B14F-4D97-AF65-F5344CB8AC3E}">
        <p14:creationId xmlns:p14="http://schemas.microsoft.com/office/powerpoint/2010/main" val="31878013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DF24E-737F-25B4-D47E-5FDDFC24DCEE}"/>
              </a:ext>
            </a:extLst>
          </p:cNvPr>
          <p:cNvSpPr>
            <a:spLocks noGrp="1"/>
          </p:cNvSpPr>
          <p:nvPr>
            <p:ph type="title"/>
          </p:nvPr>
        </p:nvSpPr>
        <p:spPr>
          <a:xfrm>
            <a:off x="838200" y="681037"/>
            <a:ext cx="10515600" cy="767935"/>
          </a:xfrm>
        </p:spPr>
        <p:txBody>
          <a:bodyPr>
            <a:normAutofit/>
          </a:bodyPr>
          <a:lstStyle/>
          <a:p>
            <a:r>
              <a:rPr lang="en-US" sz="2000" b="1" dirty="0">
                <a:latin typeface="Times New Roman" panose="02020603050405020304" pitchFamily="18" charset="0"/>
                <a:cs typeface="Times New Roman" panose="02020603050405020304" pitchFamily="18" charset="0"/>
              </a:rPr>
              <a:t>How many drivers are currently active?</a:t>
            </a:r>
          </a:p>
        </p:txBody>
      </p:sp>
      <p:sp>
        <p:nvSpPr>
          <p:cNvPr id="3" name="Text Placeholder 2">
            <a:extLst>
              <a:ext uri="{FF2B5EF4-FFF2-40B4-BE49-F238E27FC236}">
                <a16:creationId xmlns:a16="http://schemas.microsoft.com/office/drawing/2014/main" id="{7E3BB20D-648F-B40E-B79B-2CA790E2391F}"/>
              </a:ext>
            </a:extLst>
          </p:cNvPr>
          <p:cNvSpPr>
            <a:spLocks noGrp="1"/>
          </p:cNvSpPr>
          <p:nvPr>
            <p:ph type="body" idx="1"/>
          </p:nvPr>
        </p:nvSpPr>
        <p:spPr>
          <a:xfrm>
            <a:off x="838200" y="1688123"/>
            <a:ext cx="11161542" cy="4488840"/>
          </a:xfrm>
        </p:spPr>
        <p:txBody>
          <a:bodyPr/>
          <a:lstStyle/>
          <a:p>
            <a:pPr marL="114300" indent="0">
              <a:buNone/>
            </a:pPr>
            <a:endParaRPr lang="en-US" dirty="0"/>
          </a:p>
          <a:p>
            <a:pPr marL="114300" indent="0">
              <a:buNone/>
            </a:pPr>
            <a:r>
              <a:rPr lang="en-IN" sz="2000" b="1" dirty="0"/>
              <a:t>Output</a:t>
            </a:r>
            <a:r>
              <a:rPr lang="en-IN" b="1" dirty="0"/>
              <a:t>   </a:t>
            </a:r>
          </a:p>
          <a:p>
            <a:endParaRPr lang="en-US" dirty="0"/>
          </a:p>
          <a:p>
            <a:pPr marL="114300" indent="0">
              <a:buNone/>
            </a:pPr>
            <a:endParaRPr lang="en-US" dirty="0"/>
          </a:p>
          <a:p>
            <a:r>
              <a:rPr lang="en-US" sz="1800" dirty="0">
                <a:latin typeface="Times New Roman" panose="02020603050405020304" pitchFamily="18" charset="0"/>
                <a:cs typeface="Times New Roman" panose="02020603050405020304" pitchFamily="18" charset="0"/>
              </a:rPr>
              <a:t>COUNT(*) retrieves total number of drivers that are currently active from drivers table using </a:t>
            </a:r>
            <a:r>
              <a:rPr lang="en-US" sz="1800" dirty="0" err="1">
                <a:latin typeface="Times New Roman" panose="02020603050405020304" pitchFamily="18" charset="0"/>
                <a:cs typeface="Times New Roman" panose="02020603050405020304" pitchFamily="18" charset="0"/>
              </a:rPr>
              <a:t>is_active</a:t>
            </a:r>
            <a:r>
              <a:rPr lang="en-US" sz="1800" dirty="0">
                <a:latin typeface="Times New Roman" panose="02020603050405020304" pitchFamily="18" charset="0"/>
                <a:cs typeface="Times New Roman" panose="02020603050405020304" pitchFamily="18" charset="0"/>
              </a:rPr>
              <a:t> = “Yes”.</a:t>
            </a:r>
          </a:p>
        </p:txBody>
      </p:sp>
      <p:pic>
        <p:nvPicPr>
          <p:cNvPr id="5" name="Picture 4">
            <a:extLst>
              <a:ext uri="{FF2B5EF4-FFF2-40B4-BE49-F238E27FC236}">
                <a16:creationId xmlns:a16="http://schemas.microsoft.com/office/drawing/2014/main" id="{3AF6389A-5EB7-74D6-A2F3-5322093D9084}"/>
              </a:ext>
            </a:extLst>
          </p:cNvPr>
          <p:cNvPicPr>
            <a:picLocks noChangeAspect="1"/>
          </p:cNvPicPr>
          <p:nvPr/>
        </p:nvPicPr>
        <p:blipFill>
          <a:blip r:embed="rId2"/>
          <a:stretch>
            <a:fillRect/>
          </a:stretch>
        </p:blipFill>
        <p:spPr>
          <a:xfrm>
            <a:off x="838200" y="1448972"/>
            <a:ext cx="6561406" cy="337625"/>
          </a:xfrm>
          <a:prstGeom prst="rect">
            <a:avLst/>
          </a:prstGeom>
        </p:spPr>
      </p:pic>
      <p:pic>
        <p:nvPicPr>
          <p:cNvPr id="7" name="Picture 6">
            <a:extLst>
              <a:ext uri="{FF2B5EF4-FFF2-40B4-BE49-F238E27FC236}">
                <a16:creationId xmlns:a16="http://schemas.microsoft.com/office/drawing/2014/main" id="{8F71CD97-D2E2-F1B9-BED9-B074C2318072}"/>
              </a:ext>
            </a:extLst>
          </p:cNvPr>
          <p:cNvPicPr>
            <a:picLocks noChangeAspect="1"/>
          </p:cNvPicPr>
          <p:nvPr/>
        </p:nvPicPr>
        <p:blipFill>
          <a:blip r:embed="rId3"/>
          <a:stretch>
            <a:fillRect/>
          </a:stretch>
        </p:blipFill>
        <p:spPr>
          <a:xfrm>
            <a:off x="1007452" y="2760785"/>
            <a:ext cx="1609139" cy="784274"/>
          </a:xfrm>
          <a:prstGeom prst="rect">
            <a:avLst/>
          </a:prstGeom>
        </p:spPr>
      </p:pic>
    </p:spTree>
    <p:extLst>
      <p:ext uri="{BB962C8B-B14F-4D97-AF65-F5344CB8AC3E}">
        <p14:creationId xmlns:p14="http://schemas.microsoft.com/office/powerpoint/2010/main" val="3198774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B4ED7-FB7F-FD5B-1C0C-21A40BB01AC5}"/>
              </a:ext>
            </a:extLst>
          </p:cNvPr>
          <p:cNvSpPr>
            <a:spLocks noGrp="1"/>
          </p:cNvSpPr>
          <p:nvPr>
            <p:ph type="title"/>
          </p:nvPr>
        </p:nvSpPr>
        <p:spPr>
          <a:xfrm>
            <a:off x="838200" y="787791"/>
            <a:ext cx="10515600" cy="902897"/>
          </a:xfrm>
        </p:spPr>
        <p:txBody>
          <a:bodyPr>
            <a:normAutofit/>
          </a:bodyPr>
          <a:lstStyle/>
          <a:p>
            <a:r>
              <a:rPr lang="en-US" sz="2000" b="1" dirty="0">
                <a:latin typeface="Times New Roman" panose="02020603050405020304" pitchFamily="18" charset="0"/>
                <a:cs typeface="Times New Roman" panose="02020603050405020304" pitchFamily="18" charset="0"/>
              </a:rPr>
              <a:t>What are the different vehicle types?</a:t>
            </a:r>
          </a:p>
        </p:txBody>
      </p:sp>
      <p:sp>
        <p:nvSpPr>
          <p:cNvPr id="3" name="Text Placeholder 2">
            <a:extLst>
              <a:ext uri="{FF2B5EF4-FFF2-40B4-BE49-F238E27FC236}">
                <a16:creationId xmlns:a16="http://schemas.microsoft.com/office/drawing/2014/main" id="{7A302934-5419-4F6B-83D1-963DD38A8923}"/>
              </a:ext>
            </a:extLst>
          </p:cNvPr>
          <p:cNvSpPr>
            <a:spLocks noGrp="1"/>
          </p:cNvSpPr>
          <p:nvPr>
            <p:ph type="body" idx="1"/>
          </p:nvPr>
        </p:nvSpPr>
        <p:spPr/>
        <p:txBody>
          <a:bodyPr/>
          <a:lstStyle/>
          <a:p>
            <a:pPr marL="114300" indent="0">
              <a:buNone/>
            </a:pPr>
            <a:endParaRPr lang="en-US" b="1" dirty="0"/>
          </a:p>
          <a:p>
            <a:pPr marL="114300" indent="0">
              <a:buNone/>
            </a:pPr>
            <a:r>
              <a:rPr lang="en-IN" sz="2000" b="1" dirty="0"/>
              <a:t>Output</a:t>
            </a:r>
            <a:r>
              <a:rPr lang="en-IN" b="1" dirty="0"/>
              <a:t> </a:t>
            </a:r>
          </a:p>
          <a:p>
            <a:pPr marL="114300" indent="0">
              <a:buNone/>
            </a:pPr>
            <a:endParaRPr lang="en-IN" b="1" dirty="0"/>
          </a:p>
          <a:p>
            <a:pPr marL="114300" indent="0">
              <a:buNone/>
            </a:pPr>
            <a:endParaRPr lang="en-IN" b="1" dirty="0"/>
          </a:p>
          <a:p>
            <a:pPr marL="114300" indent="0">
              <a:buNone/>
            </a:pPr>
            <a:endParaRPr lang="en-IN" b="1" dirty="0"/>
          </a:p>
          <a:p>
            <a:pPr marL="114300" indent="0">
              <a:buNone/>
            </a:pPr>
            <a:r>
              <a:rPr lang="en-IN" sz="20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Distinct retrieves unique vehicle types that means remove duplicate vehicle types from the result</a:t>
            </a:r>
            <a:r>
              <a:rPr lang="en-US" sz="2000" dirty="0">
                <a:latin typeface="Times New Roman" panose="02020603050405020304" pitchFamily="18" charset="0"/>
                <a:cs typeface="Times New Roman" panose="02020603050405020304" pitchFamily="18" charset="0"/>
              </a:rPr>
              <a:t>.</a:t>
            </a:r>
          </a:p>
          <a:p>
            <a:pPr marL="114300" indent="0">
              <a:buNone/>
            </a:pPr>
            <a:endParaRPr lang="en-IN" b="1" dirty="0"/>
          </a:p>
        </p:txBody>
      </p:sp>
      <p:pic>
        <p:nvPicPr>
          <p:cNvPr id="5" name="Picture 4">
            <a:extLst>
              <a:ext uri="{FF2B5EF4-FFF2-40B4-BE49-F238E27FC236}">
                <a16:creationId xmlns:a16="http://schemas.microsoft.com/office/drawing/2014/main" id="{38DC3218-2ED5-303C-151D-A5CB1265960C}"/>
              </a:ext>
            </a:extLst>
          </p:cNvPr>
          <p:cNvPicPr>
            <a:picLocks noChangeAspect="1"/>
          </p:cNvPicPr>
          <p:nvPr/>
        </p:nvPicPr>
        <p:blipFill>
          <a:blip r:embed="rId2"/>
          <a:stretch>
            <a:fillRect/>
          </a:stretch>
        </p:blipFill>
        <p:spPr>
          <a:xfrm>
            <a:off x="1001004" y="1875441"/>
            <a:ext cx="6075046" cy="333187"/>
          </a:xfrm>
          <a:prstGeom prst="rect">
            <a:avLst/>
          </a:prstGeom>
        </p:spPr>
      </p:pic>
      <p:pic>
        <p:nvPicPr>
          <p:cNvPr id="7" name="Picture 6">
            <a:extLst>
              <a:ext uri="{FF2B5EF4-FFF2-40B4-BE49-F238E27FC236}">
                <a16:creationId xmlns:a16="http://schemas.microsoft.com/office/drawing/2014/main" id="{3303E757-7CF4-7D5C-949A-CA9F812CA0E3}"/>
              </a:ext>
            </a:extLst>
          </p:cNvPr>
          <p:cNvPicPr>
            <a:picLocks noChangeAspect="1"/>
          </p:cNvPicPr>
          <p:nvPr/>
        </p:nvPicPr>
        <p:blipFill>
          <a:blip r:embed="rId3"/>
          <a:stretch>
            <a:fillRect/>
          </a:stretch>
        </p:blipFill>
        <p:spPr>
          <a:xfrm>
            <a:off x="1263088" y="2940147"/>
            <a:ext cx="1156555" cy="1463041"/>
          </a:xfrm>
          <a:prstGeom prst="rect">
            <a:avLst/>
          </a:prstGeom>
        </p:spPr>
      </p:pic>
    </p:spTree>
    <p:extLst>
      <p:ext uri="{BB962C8B-B14F-4D97-AF65-F5344CB8AC3E}">
        <p14:creationId xmlns:p14="http://schemas.microsoft.com/office/powerpoint/2010/main" val="35869674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C9946-A61E-2BE5-8A07-B3F13D6B3B30}"/>
              </a:ext>
            </a:extLst>
          </p:cNvPr>
          <p:cNvSpPr>
            <a:spLocks noGrp="1"/>
          </p:cNvSpPr>
          <p:nvPr>
            <p:ph type="title"/>
          </p:nvPr>
        </p:nvSpPr>
        <p:spPr>
          <a:xfrm>
            <a:off x="838200" y="858129"/>
            <a:ext cx="10515600" cy="832559"/>
          </a:xfrm>
        </p:spPr>
        <p:txBody>
          <a:bodyPr>
            <a:normAutofit/>
          </a:bodyPr>
          <a:lstStyle/>
          <a:p>
            <a:r>
              <a:rPr lang="en-US" sz="2000" b="1" dirty="0">
                <a:latin typeface="Times New Roman" panose="02020603050405020304" pitchFamily="18" charset="0"/>
                <a:cs typeface="Times New Roman" panose="02020603050405020304" pitchFamily="18" charset="0"/>
              </a:rPr>
              <a:t>What is the total order value?</a:t>
            </a:r>
          </a:p>
        </p:txBody>
      </p:sp>
      <p:sp>
        <p:nvSpPr>
          <p:cNvPr id="3" name="Text Placeholder 2">
            <a:extLst>
              <a:ext uri="{FF2B5EF4-FFF2-40B4-BE49-F238E27FC236}">
                <a16:creationId xmlns:a16="http://schemas.microsoft.com/office/drawing/2014/main" id="{01F25EA8-955E-898C-75F0-3EAB8E8C4B2B}"/>
              </a:ext>
            </a:extLst>
          </p:cNvPr>
          <p:cNvSpPr>
            <a:spLocks noGrp="1"/>
          </p:cNvSpPr>
          <p:nvPr>
            <p:ph type="body" idx="1"/>
          </p:nvPr>
        </p:nvSpPr>
        <p:spPr/>
        <p:txBody>
          <a:bodyPr/>
          <a:lstStyle/>
          <a:p>
            <a:pPr marL="114300" indent="0">
              <a:buNone/>
            </a:pPr>
            <a:endParaRPr lang="en-US" dirty="0"/>
          </a:p>
          <a:p>
            <a:pPr marL="114300" indent="0">
              <a:buNone/>
            </a:pPr>
            <a:r>
              <a:rPr lang="en-IN" sz="2000" b="1" dirty="0"/>
              <a:t>Output </a:t>
            </a:r>
          </a:p>
          <a:p>
            <a:pPr marL="114300" indent="0">
              <a:buNone/>
            </a:pPr>
            <a:endParaRPr lang="en-IN" b="1" dirty="0"/>
          </a:p>
          <a:p>
            <a:pPr marL="114300" indent="0">
              <a:buNone/>
            </a:pPr>
            <a:endParaRPr lang="en-IN" b="1" dirty="0"/>
          </a:p>
          <a:p>
            <a:pPr marL="114300" indent="0">
              <a:buNone/>
            </a:pPr>
            <a:r>
              <a:rPr lang="en-IN" sz="2400" b="1" dirty="0"/>
              <a:t>. </a:t>
            </a:r>
            <a:r>
              <a:rPr lang="en-IN" sz="1800" dirty="0">
                <a:latin typeface="Times New Roman" panose="02020603050405020304" pitchFamily="18" charset="0"/>
                <a:cs typeface="Times New Roman" panose="02020603050405020304" pitchFamily="18" charset="0"/>
              </a:rPr>
              <a:t>Sum(total_value) calculates the amount of all the orders present inside the orders table.</a:t>
            </a:r>
            <a:endParaRPr lang="en-IN" sz="2000" b="1" dirty="0"/>
          </a:p>
          <a:p>
            <a:pPr marL="114300" indent="0">
              <a:buNone/>
            </a:pPr>
            <a:endParaRPr lang="en-US" dirty="0"/>
          </a:p>
        </p:txBody>
      </p:sp>
      <p:pic>
        <p:nvPicPr>
          <p:cNvPr id="5" name="Picture 4">
            <a:extLst>
              <a:ext uri="{FF2B5EF4-FFF2-40B4-BE49-F238E27FC236}">
                <a16:creationId xmlns:a16="http://schemas.microsoft.com/office/drawing/2014/main" id="{EAD70A99-3EA5-2F70-0040-84EDEA5288A5}"/>
              </a:ext>
            </a:extLst>
          </p:cNvPr>
          <p:cNvPicPr>
            <a:picLocks noChangeAspect="1"/>
          </p:cNvPicPr>
          <p:nvPr/>
        </p:nvPicPr>
        <p:blipFill>
          <a:blip r:embed="rId2"/>
          <a:stretch>
            <a:fillRect/>
          </a:stretch>
        </p:blipFill>
        <p:spPr>
          <a:xfrm>
            <a:off x="838200" y="1825625"/>
            <a:ext cx="5098366" cy="303407"/>
          </a:xfrm>
          <a:prstGeom prst="rect">
            <a:avLst/>
          </a:prstGeom>
        </p:spPr>
      </p:pic>
      <p:pic>
        <p:nvPicPr>
          <p:cNvPr id="7" name="Picture 6">
            <a:extLst>
              <a:ext uri="{FF2B5EF4-FFF2-40B4-BE49-F238E27FC236}">
                <a16:creationId xmlns:a16="http://schemas.microsoft.com/office/drawing/2014/main" id="{0A121295-2E9A-E0DF-8214-4C21F12F0175}"/>
              </a:ext>
            </a:extLst>
          </p:cNvPr>
          <p:cNvPicPr>
            <a:picLocks noChangeAspect="1"/>
          </p:cNvPicPr>
          <p:nvPr/>
        </p:nvPicPr>
        <p:blipFill>
          <a:blip r:embed="rId3"/>
          <a:stretch>
            <a:fillRect/>
          </a:stretch>
        </p:blipFill>
        <p:spPr>
          <a:xfrm>
            <a:off x="1033462" y="3016555"/>
            <a:ext cx="1428384" cy="837993"/>
          </a:xfrm>
          <a:prstGeom prst="rect">
            <a:avLst/>
          </a:prstGeom>
        </p:spPr>
      </p:pic>
    </p:spTree>
    <p:extLst>
      <p:ext uri="{BB962C8B-B14F-4D97-AF65-F5344CB8AC3E}">
        <p14:creationId xmlns:p14="http://schemas.microsoft.com/office/powerpoint/2010/main" val="20315339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998BA-CFA7-7997-A027-38FAB470F9E7}"/>
              </a:ext>
            </a:extLst>
          </p:cNvPr>
          <p:cNvSpPr>
            <a:spLocks noGrp="1"/>
          </p:cNvSpPr>
          <p:nvPr>
            <p:ph type="title"/>
          </p:nvPr>
        </p:nvSpPr>
        <p:spPr>
          <a:xfrm>
            <a:off x="838200" y="886265"/>
            <a:ext cx="10515600" cy="804423"/>
          </a:xfrm>
        </p:spPr>
        <p:txBody>
          <a:bodyPr>
            <a:normAutofit/>
          </a:bodyPr>
          <a:lstStyle/>
          <a:p>
            <a:r>
              <a:rPr lang="en-US" sz="2000" b="1" dirty="0">
                <a:latin typeface="Times New Roman" panose="02020603050405020304" pitchFamily="18" charset="0"/>
                <a:cs typeface="Times New Roman" panose="02020603050405020304" pitchFamily="18" charset="0"/>
              </a:rPr>
              <a:t>What is the average package weight?</a:t>
            </a:r>
          </a:p>
        </p:txBody>
      </p:sp>
      <p:sp>
        <p:nvSpPr>
          <p:cNvPr id="3" name="Text Placeholder 2">
            <a:extLst>
              <a:ext uri="{FF2B5EF4-FFF2-40B4-BE49-F238E27FC236}">
                <a16:creationId xmlns:a16="http://schemas.microsoft.com/office/drawing/2014/main" id="{0093DE2C-F485-6339-1EEE-90B88869696E}"/>
              </a:ext>
            </a:extLst>
          </p:cNvPr>
          <p:cNvSpPr>
            <a:spLocks noGrp="1"/>
          </p:cNvSpPr>
          <p:nvPr>
            <p:ph type="body" idx="1"/>
          </p:nvPr>
        </p:nvSpPr>
        <p:spPr/>
        <p:txBody>
          <a:bodyPr/>
          <a:lstStyle/>
          <a:p>
            <a:pPr marL="114300" indent="0">
              <a:buNone/>
            </a:pPr>
            <a:endParaRPr lang="en-US" dirty="0"/>
          </a:p>
          <a:p>
            <a:pPr marL="114300" indent="0">
              <a:buNone/>
            </a:pPr>
            <a:r>
              <a:rPr lang="en-IN" sz="2000" b="1" dirty="0"/>
              <a:t>Output</a:t>
            </a:r>
            <a:r>
              <a:rPr lang="en-IN" b="1" dirty="0"/>
              <a:t> </a:t>
            </a:r>
          </a:p>
          <a:p>
            <a:pPr marL="114300" indent="0">
              <a:buNone/>
            </a:pPr>
            <a:endParaRPr lang="en-IN" b="1" dirty="0"/>
          </a:p>
          <a:p>
            <a:pPr marL="114300" indent="0">
              <a:buNone/>
            </a:pPr>
            <a:endParaRPr lang="en-IN" b="1" dirty="0"/>
          </a:p>
          <a:p>
            <a:pPr marL="114300" indent="0">
              <a:buNone/>
            </a:pPr>
            <a:r>
              <a:rPr lang="en-IN" sz="2400" b="1" dirty="0"/>
              <a:t>.</a:t>
            </a:r>
            <a:r>
              <a:rPr lang="en-IN" sz="20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Avg()</a:t>
            </a:r>
            <a:r>
              <a:rPr lang="en-IN" sz="2000" dirty="0"/>
              <a:t> </a:t>
            </a:r>
            <a:r>
              <a:rPr lang="en-IN" sz="1800" dirty="0">
                <a:latin typeface="Times New Roman" panose="02020603050405020304" pitchFamily="18" charset="0"/>
                <a:cs typeface="Times New Roman" panose="02020603050405020304" pitchFamily="18" charset="0"/>
              </a:rPr>
              <a:t>it retrieve the overall average weight of the packages from orders table. </a:t>
            </a:r>
            <a:endParaRPr lang="en-IN" sz="2000" dirty="0">
              <a:latin typeface="Times New Roman" panose="02020603050405020304" pitchFamily="18" charset="0"/>
              <a:cs typeface="Times New Roman" panose="02020603050405020304" pitchFamily="18" charset="0"/>
            </a:endParaRPr>
          </a:p>
          <a:p>
            <a:pPr marL="114300" indent="0">
              <a:buNone/>
            </a:pPr>
            <a:endParaRPr lang="en-US" dirty="0"/>
          </a:p>
        </p:txBody>
      </p:sp>
      <p:pic>
        <p:nvPicPr>
          <p:cNvPr id="5" name="Picture 4">
            <a:extLst>
              <a:ext uri="{FF2B5EF4-FFF2-40B4-BE49-F238E27FC236}">
                <a16:creationId xmlns:a16="http://schemas.microsoft.com/office/drawing/2014/main" id="{BFFBD820-3D2E-0BDD-B51D-25AE2B944614}"/>
              </a:ext>
            </a:extLst>
          </p:cNvPr>
          <p:cNvPicPr>
            <a:picLocks noChangeAspect="1"/>
          </p:cNvPicPr>
          <p:nvPr/>
        </p:nvPicPr>
        <p:blipFill>
          <a:blip r:embed="rId2"/>
          <a:stretch>
            <a:fillRect/>
          </a:stretch>
        </p:blipFill>
        <p:spPr>
          <a:xfrm>
            <a:off x="838200" y="1825625"/>
            <a:ext cx="5257800" cy="307267"/>
          </a:xfrm>
          <a:prstGeom prst="rect">
            <a:avLst/>
          </a:prstGeom>
        </p:spPr>
      </p:pic>
      <p:pic>
        <p:nvPicPr>
          <p:cNvPr id="7" name="Picture 6">
            <a:extLst>
              <a:ext uri="{FF2B5EF4-FFF2-40B4-BE49-F238E27FC236}">
                <a16:creationId xmlns:a16="http://schemas.microsoft.com/office/drawing/2014/main" id="{B5F2D0EB-08DE-E15C-5415-D983D58109C5}"/>
              </a:ext>
            </a:extLst>
          </p:cNvPr>
          <p:cNvPicPr>
            <a:picLocks noChangeAspect="1"/>
          </p:cNvPicPr>
          <p:nvPr/>
        </p:nvPicPr>
        <p:blipFill>
          <a:blip r:embed="rId3"/>
          <a:stretch>
            <a:fillRect/>
          </a:stretch>
        </p:blipFill>
        <p:spPr>
          <a:xfrm>
            <a:off x="961585" y="3015445"/>
            <a:ext cx="1683142" cy="740630"/>
          </a:xfrm>
          <a:prstGeom prst="rect">
            <a:avLst/>
          </a:prstGeom>
        </p:spPr>
      </p:pic>
    </p:spTree>
    <p:extLst>
      <p:ext uri="{BB962C8B-B14F-4D97-AF65-F5344CB8AC3E}">
        <p14:creationId xmlns:p14="http://schemas.microsoft.com/office/powerpoint/2010/main" val="41131151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B3131-B582-81D7-57EA-7CDDE0A3E4CB}"/>
              </a:ext>
            </a:extLst>
          </p:cNvPr>
          <p:cNvSpPr>
            <a:spLocks noGrp="1"/>
          </p:cNvSpPr>
          <p:nvPr>
            <p:ph type="title"/>
          </p:nvPr>
        </p:nvSpPr>
        <p:spPr>
          <a:xfrm>
            <a:off x="838200" y="112542"/>
            <a:ext cx="10515600" cy="872196"/>
          </a:xfrm>
        </p:spPr>
        <p:txBody>
          <a:bodyPr>
            <a:normAutofit/>
          </a:bodyPr>
          <a:lstStyle/>
          <a:p>
            <a:pPr algn="ctr"/>
            <a:r>
              <a:rPr lang="en-US" sz="2400" b="1" dirty="0">
                <a:solidFill>
                  <a:schemeClr val="accent1">
                    <a:lumMod val="75000"/>
                  </a:schemeClr>
                </a:solidFill>
                <a:latin typeface="Times New Roman" panose="02020603050405020304" pitchFamily="18" charset="0"/>
                <a:cs typeface="Times New Roman" panose="02020603050405020304" pitchFamily="18" charset="0"/>
              </a:rPr>
              <a:t>Objective-Based Analysis</a:t>
            </a:r>
          </a:p>
        </p:txBody>
      </p:sp>
      <p:sp>
        <p:nvSpPr>
          <p:cNvPr id="3" name="Text Placeholder 2">
            <a:extLst>
              <a:ext uri="{FF2B5EF4-FFF2-40B4-BE49-F238E27FC236}">
                <a16:creationId xmlns:a16="http://schemas.microsoft.com/office/drawing/2014/main" id="{78711B93-7D26-1124-BB84-C68BED62B4EB}"/>
              </a:ext>
            </a:extLst>
          </p:cNvPr>
          <p:cNvSpPr>
            <a:spLocks noGrp="1"/>
          </p:cNvSpPr>
          <p:nvPr>
            <p:ph type="body" idx="1"/>
          </p:nvPr>
        </p:nvSpPr>
        <p:spPr>
          <a:xfrm>
            <a:off x="838200" y="1167618"/>
            <a:ext cx="10515600" cy="5009345"/>
          </a:xfrm>
        </p:spPr>
        <p:txBody>
          <a:bodyPr>
            <a:normAutofit/>
          </a:bodyPr>
          <a:lstStyle/>
          <a:p>
            <a:pPr marL="114300" indent="0">
              <a:buNone/>
            </a:pPr>
            <a:r>
              <a:rPr lang="en-US" sz="2200" b="1" dirty="0">
                <a:latin typeface="Times New Roman" panose="02020603050405020304" pitchFamily="18" charset="0"/>
                <a:cs typeface="Times New Roman" panose="02020603050405020304" pitchFamily="18" charset="0"/>
              </a:rPr>
              <a:t>Compare the number of orders across delivery zones.</a:t>
            </a:r>
          </a:p>
          <a:p>
            <a:pPr marL="114300" indent="0">
              <a:buNone/>
            </a:pPr>
            <a:endParaRPr lang="en-US" sz="2400" b="1" dirty="0">
              <a:latin typeface="Times New Roman" panose="02020603050405020304" pitchFamily="18" charset="0"/>
              <a:cs typeface="Times New Roman" panose="02020603050405020304" pitchFamily="18" charset="0"/>
            </a:endParaRPr>
          </a:p>
          <a:p>
            <a:pPr marL="114300" indent="0">
              <a:buNone/>
            </a:pPr>
            <a:endParaRPr lang="en-US" sz="2400" b="1" dirty="0">
              <a:latin typeface="Times New Roman" panose="02020603050405020304" pitchFamily="18" charset="0"/>
              <a:cs typeface="Times New Roman" panose="02020603050405020304" pitchFamily="18" charset="0"/>
            </a:endParaRPr>
          </a:p>
          <a:p>
            <a:pPr marL="114300" indent="0">
              <a:buNone/>
            </a:pPr>
            <a:endParaRPr lang="en-IN" sz="2400" b="1" dirty="0"/>
          </a:p>
          <a:p>
            <a:pPr marL="114300" indent="0">
              <a:buNone/>
            </a:pPr>
            <a:r>
              <a:rPr lang="en-IN" sz="2200" b="1" dirty="0"/>
              <a:t>Output </a:t>
            </a:r>
            <a:endParaRPr lang="en-IN" sz="2400" b="1" dirty="0"/>
          </a:p>
          <a:p>
            <a:pPr marL="114300" indent="0">
              <a:buNone/>
            </a:pPr>
            <a:endParaRPr lang="en-IN" sz="2400" b="1" dirty="0"/>
          </a:p>
          <a:p>
            <a:pPr marL="114300" indent="0">
              <a:buNone/>
            </a:pPr>
            <a:endParaRPr lang="en-IN" sz="2400" b="1" dirty="0"/>
          </a:p>
          <a:p>
            <a:pPr marL="114300" indent="0">
              <a:buNone/>
            </a:pPr>
            <a:endParaRPr lang="en-IN" sz="2400" dirty="0">
              <a:latin typeface="Times New Roman" panose="02020603050405020304" pitchFamily="18" charset="0"/>
              <a:cs typeface="Times New Roman" panose="02020603050405020304" pitchFamily="18" charset="0"/>
            </a:endParaRPr>
          </a:p>
          <a:p>
            <a:pPr marL="114300" indent="0">
              <a:buNone/>
            </a:pPr>
            <a:r>
              <a:rPr lang="en-IN" sz="20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Counts the total number of orders in each delivery zone using count and group by function. group by groups on the basis of delivery zone id and count() counts the total number of orders in each delivery zone</a:t>
            </a:r>
          </a:p>
          <a:p>
            <a:pPr marL="114300" indent="0">
              <a:buNone/>
            </a:pPr>
            <a:r>
              <a:rPr lang="en-IN" sz="1800" b="1" dirty="0"/>
              <a:t> </a:t>
            </a:r>
          </a:p>
          <a:p>
            <a:pPr marL="114300" indent="0">
              <a:buNone/>
            </a:pPr>
            <a:endParaRPr lang="en-IN" sz="2400" b="1" dirty="0"/>
          </a:p>
          <a:p>
            <a:pPr marL="114300" indent="0">
              <a:buNone/>
            </a:pPr>
            <a:endParaRPr lang="en-US" sz="2400"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B209B8C9-5074-7C46-45E4-F46E6AE430FF}"/>
              </a:ext>
            </a:extLst>
          </p:cNvPr>
          <p:cNvPicPr>
            <a:picLocks noChangeAspect="1"/>
          </p:cNvPicPr>
          <p:nvPr/>
        </p:nvPicPr>
        <p:blipFill>
          <a:blip r:embed="rId2"/>
          <a:stretch>
            <a:fillRect/>
          </a:stretch>
        </p:blipFill>
        <p:spPr>
          <a:xfrm>
            <a:off x="1113326" y="1719576"/>
            <a:ext cx="5596963" cy="756338"/>
          </a:xfrm>
          <a:prstGeom prst="rect">
            <a:avLst/>
          </a:prstGeom>
        </p:spPr>
      </p:pic>
      <p:pic>
        <p:nvPicPr>
          <p:cNvPr id="9" name="Picture 8">
            <a:extLst>
              <a:ext uri="{FF2B5EF4-FFF2-40B4-BE49-F238E27FC236}">
                <a16:creationId xmlns:a16="http://schemas.microsoft.com/office/drawing/2014/main" id="{4B446532-39C2-483C-8669-E89C14EA5040}"/>
              </a:ext>
            </a:extLst>
          </p:cNvPr>
          <p:cNvPicPr>
            <a:picLocks noChangeAspect="1"/>
          </p:cNvPicPr>
          <p:nvPr/>
        </p:nvPicPr>
        <p:blipFill>
          <a:blip r:embed="rId3"/>
          <a:stretch>
            <a:fillRect/>
          </a:stretch>
        </p:blipFill>
        <p:spPr>
          <a:xfrm>
            <a:off x="939166" y="3548576"/>
            <a:ext cx="1846238" cy="1114865"/>
          </a:xfrm>
          <a:prstGeom prst="rect">
            <a:avLst/>
          </a:prstGeom>
        </p:spPr>
      </p:pic>
    </p:spTree>
    <p:extLst>
      <p:ext uri="{BB962C8B-B14F-4D97-AF65-F5344CB8AC3E}">
        <p14:creationId xmlns:p14="http://schemas.microsoft.com/office/powerpoint/2010/main" val="41192392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58DED-2187-1C56-01F3-2CB91A479A24}"/>
              </a:ext>
            </a:extLst>
          </p:cNvPr>
          <p:cNvSpPr>
            <a:spLocks noGrp="1"/>
          </p:cNvSpPr>
          <p:nvPr>
            <p:ph type="title"/>
          </p:nvPr>
        </p:nvSpPr>
        <p:spPr>
          <a:xfrm>
            <a:off x="838200" y="183173"/>
            <a:ext cx="10515600" cy="782003"/>
          </a:xfrm>
        </p:spPr>
        <p:txBody>
          <a:bodyPr>
            <a:normAutofit/>
          </a:bodyPr>
          <a:lstStyle/>
          <a:p>
            <a:r>
              <a:rPr lang="en-US" sz="2000" b="1" dirty="0">
                <a:latin typeface="Times New Roman" panose="02020603050405020304" pitchFamily="18" charset="0"/>
                <a:cs typeface="Times New Roman" panose="02020603050405020304" pitchFamily="18" charset="0"/>
              </a:rPr>
              <a:t>Compare orders across different service types.</a:t>
            </a:r>
          </a:p>
        </p:txBody>
      </p:sp>
      <p:sp>
        <p:nvSpPr>
          <p:cNvPr id="3" name="Text Placeholder 2">
            <a:extLst>
              <a:ext uri="{FF2B5EF4-FFF2-40B4-BE49-F238E27FC236}">
                <a16:creationId xmlns:a16="http://schemas.microsoft.com/office/drawing/2014/main" id="{23B95D14-B0E9-1CBB-94A8-14B4C69D7E2B}"/>
              </a:ext>
            </a:extLst>
          </p:cNvPr>
          <p:cNvSpPr>
            <a:spLocks noGrp="1"/>
          </p:cNvSpPr>
          <p:nvPr>
            <p:ph type="body" idx="1"/>
          </p:nvPr>
        </p:nvSpPr>
        <p:spPr>
          <a:xfrm>
            <a:off x="838200" y="965176"/>
            <a:ext cx="10515600" cy="5211787"/>
          </a:xfrm>
        </p:spPr>
        <p:txBody>
          <a:bodyPr/>
          <a:lstStyle/>
          <a:p>
            <a:pPr marL="114300" indent="0">
              <a:buNone/>
            </a:pPr>
            <a:endParaRPr lang="en-IN" b="1" dirty="0"/>
          </a:p>
          <a:p>
            <a:pPr marL="114300" indent="0">
              <a:buNone/>
            </a:pPr>
            <a:endParaRPr lang="en-IN" b="1" dirty="0"/>
          </a:p>
          <a:p>
            <a:pPr marL="114300" indent="0">
              <a:buNone/>
            </a:pPr>
            <a:r>
              <a:rPr lang="en-IN" sz="2000" b="1" dirty="0"/>
              <a:t>Output</a:t>
            </a:r>
            <a:r>
              <a:rPr lang="en-IN" b="1" dirty="0"/>
              <a:t> </a:t>
            </a:r>
          </a:p>
          <a:p>
            <a:pPr marL="114300" indent="0">
              <a:buNone/>
            </a:pPr>
            <a:endParaRPr lang="en-IN" b="1" dirty="0"/>
          </a:p>
          <a:p>
            <a:pPr marL="114300" indent="0">
              <a:buNone/>
            </a:pPr>
            <a:endParaRPr lang="en-IN" b="1" dirty="0"/>
          </a:p>
          <a:p>
            <a:pPr marL="114300" indent="0">
              <a:buNone/>
            </a:pPr>
            <a:endParaRPr lang="en-IN" b="1" dirty="0"/>
          </a:p>
          <a:p>
            <a:pPr marL="114300" indent="0">
              <a:buNone/>
            </a:pPr>
            <a:r>
              <a:rPr lang="en-IN" sz="2000" b="1" dirty="0"/>
              <a:t>.</a:t>
            </a:r>
            <a:r>
              <a:rPr lang="en-US" sz="2000" dirty="0"/>
              <a:t> </a:t>
            </a:r>
            <a:r>
              <a:rPr lang="en-US" sz="1800" dirty="0">
                <a:latin typeface="Times New Roman" panose="02020603050405020304" pitchFamily="18" charset="0"/>
                <a:cs typeface="Times New Roman" panose="02020603050405020304" pitchFamily="18" charset="0"/>
              </a:rPr>
              <a:t>It counts the number of orders on the basis of service type .This helps identify which service type is most commonly used by customers and which services have lower demand.</a:t>
            </a:r>
          </a:p>
          <a:p>
            <a:pPr marL="114300" indent="0">
              <a:buNone/>
            </a:pPr>
            <a:endParaRPr lang="en-US" dirty="0"/>
          </a:p>
        </p:txBody>
      </p:sp>
      <p:pic>
        <p:nvPicPr>
          <p:cNvPr id="5" name="Picture 4">
            <a:extLst>
              <a:ext uri="{FF2B5EF4-FFF2-40B4-BE49-F238E27FC236}">
                <a16:creationId xmlns:a16="http://schemas.microsoft.com/office/drawing/2014/main" id="{F52DD79E-5453-76D1-1376-08268F144A21}"/>
              </a:ext>
            </a:extLst>
          </p:cNvPr>
          <p:cNvPicPr>
            <a:picLocks noChangeAspect="1"/>
          </p:cNvPicPr>
          <p:nvPr/>
        </p:nvPicPr>
        <p:blipFill>
          <a:blip r:embed="rId2"/>
          <a:stretch>
            <a:fillRect/>
          </a:stretch>
        </p:blipFill>
        <p:spPr>
          <a:xfrm>
            <a:off x="838201" y="965176"/>
            <a:ext cx="6209714" cy="782003"/>
          </a:xfrm>
          <a:prstGeom prst="rect">
            <a:avLst/>
          </a:prstGeom>
        </p:spPr>
      </p:pic>
      <p:pic>
        <p:nvPicPr>
          <p:cNvPr id="9" name="Picture 8">
            <a:extLst>
              <a:ext uri="{FF2B5EF4-FFF2-40B4-BE49-F238E27FC236}">
                <a16:creationId xmlns:a16="http://schemas.microsoft.com/office/drawing/2014/main" id="{A2224CB8-6468-A9B4-3316-F784A8369CE9}"/>
              </a:ext>
            </a:extLst>
          </p:cNvPr>
          <p:cNvPicPr>
            <a:picLocks noChangeAspect="1"/>
          </p:cNvPicPr>
          <p:nvPr/>
        </p:nvPicPr>
        <p:blipFill>
          <a:blip r:embed="rId3"/>
          <a:stretch>
            <a:fillRect/>
          </a:stretch>
        </p:blipFill>
        <p:spPr>
          <a:xfrm>
            <a:off x="1000712" y="2611681"/>
            <a:ext cx="1644014" cy="1496085"/>
          </a:xfrm>
          <a:prstGeom prst="rect">
            <a:avLst/>
          </a:prstGeom>
        </p:spPr>
      </p:pic>
    </p:spTree>
    <p:extLst>
      <p:ext uri="{BB962C8B-B14F-4D97-AF65-F5344CB8AC3E}">
        <p14:creationId xmlns:p14="http://schemas.microsoft.com/office/powerpoint/2010/main" val="13261557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CD4EA-99E3-5000-76A1-27D3CF951667}"/>
              </a:ext>
            </a:extLst>
          </p:cNvPr>
          <p:cNvSpPr>
            <a:spLocks noGrp="1"/>
          </p:cNvSpPr>
          <p:nvPr>
            <p:ph type="title"/>
          </p:nvPr>
        </p:nvSpPr>
        <p:spPr>
          <a:xfrm>
            <a:off x="838200" y="118330"/>
            <a:ext cx="10515600" cy="866409"/>
          </a:xfrm>
        </p:spPr>
        <p:txBody>
          <a:bodyPr>
            <a:normAutofit/>
          </a:bodyPr>
          <a:lstStyle/>
          <a:p>
            <a:r>
              <a:rPr lang="en-US" sz="2000" b="1" dirty="0">
                <a:latin typeface="Times New Roman" panose="02020603050405020304" pitchFamily="18" charset="0"/>
                <a:cs typeface="Times New Roman" panose="02020603050405020304" pitchFamily="18" charset="0"/>
              </a:rPr>
              <a:t>Compare orders based on priority.</a:t>
            </a:r>
          </a:p>
        </p:txBody>
      </p:sp>
      <p:sp>
        <p:nvSpPr>
          <p:cNvPr id="3" name="Text Placeholder 2">
            <a:extLst>
              <a:ext uri="{FF2B5EF4-FFF2-40B4-BE49-F238E27FC236}">
                <a16:creationId xmlns:a16="http://schemas.microsoft.com/office/drawing/2014/main" id="{54C1CF60-4546-4029-912A-B821E506471A}"/>
              </a:ext>
            </a:extLst>
          </p:cNvPr>
          <p:cNvSpPr>
            <a:spLocks noGrp="1"/>
          </p:cNvSpPr>
          <p:nvPr>
            <p:ph type="body" idx="1"/>
          </p:nvPr>
        </p:nvSpPr>
        <p:spPr>
          <a:xfrm>
            <a:off x="838200" y="984739"/>
            <a:ext cx="10515600" cy="5192224"/>
          </a:xfrm>
        </p:spPr>
        <p:txBody>
          <a:bodyPr>
            <a:normAutofit/>
          </a:bodyPr>
          <a:lstStyle/>
          <a:p>
            <a:pPr marL="114300" indent="0">
              <a:buNone/>
            </a:pPr>
            <a:endParaRPr lang="en-IN" b="1" dirty="0"/>
          </a:p>
          <a:p>
            <a:pPr marL="114300" indent="0">
              <a:buNone/>
            </a:pPr>
            <a:endParaRPr lang="en-IN" b="1" dirty="0"/>
          </a:p>
          <a:p>
            <a:pPr marL="114300" indent="0">
              <a:buNone/>
            </a:pPr>
            <a:r>
              <a:rPr lang="en-IN" sz="2200" b="1" dirty="0"/>
              <a:t>Output</a:t>
            </a:r>
            <a:r>
              <a:rPr lang="en-IN" b="1" dirty="0"/>
              <a:t> </a:t>
            </a:r>
          </a:p>
          <a:p>
            <a:pPr marL="114300" indent="0">
              <a:buNone/>
            </a:pPr>
            <a:endParaRPr lang="en-IN" b="1" dirty="0"/>
          </a:p>
          <a:p>
            <a:pPr marL="114300" indent="0">
              <a:buNone/>
            </a:pPr>
            <a:endParaRPr lang="en-IN" b="1" dirty="0"/>
          </a:p>
          <a:p>
            <a:pPr marL="114300" lvl="0" indent="0">
              <a:buNone/>
            </a:pPr>
            <a:r>
              <a:rPr lang="en-IN" sz="26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This query counts the number of orders for each priority level. </a:t>
            </a:r>
          </a:p>
          <a:p>
            <a:pPr marL="114300" lvl="0" indent="0">
              <a:buNone/>
            </a:pPr>
            <a:r>
              <a:rPr lang="en-US" sz="1800" dirty="0">
                <a:latin typeface="Times New Roman" panose="02020603050405020304" pitchFamily="18" charset="0"/>
                <a:cs typeface="Times New Roman" panose="02020603050405020304" pitchFamily="18" charset="0"/>
              </a:rPr>
              <a:t> It helps the business compare order volume across</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different priorities and understand demand patterns.</a:t>
            </a:r>
          </a:p>
          <a:p>
            <a:pPr marL="114300" indent="0">
              <a:buNone/>
            </a:pPr>
            <a:endParaRPr lang="en-IN" sz="2200" b="1" dirty="0">
              <a:latin typeface="Times New Roman" panose="02020603050405020304" pitchFamily="18" charset="0"/>
              <a:cs typeface="Times New Roman" panose="02020603050405020304" pitchFamily="18" charset="0"/>
            </a:endParaRPr>
          </a:p>
          <a:p>
            <a:pPr marL="114300" indent="0">
              <a:buNone/>
            </a:pPr>
            <a:r>
              <a:rPr lang="en-IN" sz="2600" b="1" dirty="0"/>
              <a:t> </a:t>
            </a:r>
          </a:p>
          <a:p>
            <a:pPr marL="114300" indent="0">
              <a:buNone/>
            </a:pPr>
            <a:endParaRPr lang="en-US" dirty="0"/>
          </a:p>
        </p:txBody>
      </p:sp>
      <p:pic>
        <p:nvPicPr>
          <p:cNvPr id="5" name="Picture 4">
            <a:extLst>
              <a:ext uri="{FF2B5EF4-FFF2-40B4-BE49-F238E27FC236}">
                <a16:creationId xmlns:a16="http://schemas.microsoft.com/office/drawing/2014/main" id="{639099EE-F594-05DB-06E9-5D97F6550B63}"/>
              </a:ext>
            </a:extLst>
          </p:cNvPr>
          <p:cNvPicPr>
            <a:picLocks noChangeAspect="1"/>
          </p:cNvPicPr>
          <p:nvPr/>
        </p:nvPicPr>
        <p:blipFill>
          <a:blip r:embed="rId2"/>
          <a:stretch>
            <a:fillRect/>
          </a:stretch>
        </p:blipFill>
        <p:spPr>
          <a:xfrm>
            <a:off x="857250" y="927224"/>
            <a:ext cx="5543550" cy="746832"/>
          </a:xfrm>
          <a:prstGeom prst="rect">
            <a:avLst/>
          </a:prstGeom>
        </p:spPr>
      </p:pic>
      <p:pic>
        <p:nvPicPr>
          <p:cNvPr id="9" name="Picture 8">
            <a:extLst>
              <a:ext uri="{FF2B5EF4-FFF2-40B4-BE49-F238E27FC236}">
                <a16:creationId xmlns:a16="http://schemas.microsoft.com/office/drawing/2014/main" id="{7AFF00B6-5D9D-A206-CA12-DCCFCDE8F3DB}"/>
              </a:ext>
            </a:extLst>
          </p:cNvPr>
          <p:cNvPicPr>
            <a:picLocks noChangeAspect="1"/>
          </p:cNvPicPr>
          <p:nvPr/>
        </p:nvPicPr>
        <p:blipFill>
          <a:blip r:embed="rId3"/>
          <a:stretch>
            <a:fillRect/>
          </a:stretch>
        </p:blipFill>
        <p:spPr>
          <a:xfrm>
            <a:off x="857250" y="2482951"/>
            <a:ext cx="1477987" cy="1259056"/>
          </a:xfrm>
          <a:prstGeom prst="rect">
            <a:avLst/>
          </a:prstGeom>
        </p:spPr>
      </p:pic>
    </p:spTree>
    <p:extLst>
      <p:ext uri="{BB962C8B-B14F-4D97-AF65-F5344CB8AC3E}">
        <p14:creationId xmlns:p14="http://schemas.microsoft.com/office/powerpoint/2010/main" val="42885486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FAE00-0448-210B-F385-7D4757279185}"/>
              </a:ext>
            </a:extLst>
          </p:cNvPr>
          <p:cNvSpPr>
            <a:spLocks noGrp="1"/>
          </p:cNvSpPr>
          <p:nvPr>
            <p:ph type="title"/>
          </p:nvPr>
        </p:nvSpPr>
        <p:spPr>
          <a:xfrm>
            <a:off x="814754" y="365126"/>
            <a:ext cx="10539046" cy="704020"/>
          </a:xfrm>
        </p:spPr>
        <p:txBody>
          <a:bodyPr>
            <a:normAutofit/>
          </a:bodyPr>
          <a:lstStyle/>
          <a:p>
            <a:r>
              <a:rPr lang="en-US" sz="2000" b="1" dirty="0">
                <a:latin typeface="Times New Roman" panose="02020603050405020304" pitchFamily="18" charset="0"/>
                <a:cs typeface="Times New Roman" panose="02020603050405020304" pitchFamily="18" charset="0"/>
              </a:rPr>
              <a:t>Examine how order volume changes over time.</a:t>
            </a:r>
          </a:p>
        </p:txBody>
      </p:sp>
      <p:sp>
        <p:nvSpPr>
          <p:cNvPr id="3" name="Text Placeholder 2">
            <a:extLst>
              <a:ext uri="{FF2B5EF4-FFF2-40B4-BE49-F238E27FC236}">
                <a16:creationId xmlns:a16="http://schemas.microsoft.com/office/drawing/2014/main" id="{CC18B5A4-55EC-4D25-BFDD-3F91A8A47709}"/>
              </a:ext>
            </a:extLst>
          </p:cNvPr>
          <p:cNvSpPr>
            <a:spLocks noGrp="1"/>
          </p:cNvSpPr>
          <p:nvPr>
            <p:ph type="body" idx="1"/>
          </p:nvPr>
        </p:nvSpPr>
        <p:spPr>
          <a:xfrm>
            <a:off x="861646" y="1181686"/>
            <a:ext cx="10515600" cy="4882735"/>
          </a:xfrm>
        </p:spPr>
        <p:txBody>
          <a:bodyPr/>
          <a:lstStyle/>
          <a:p>
            <a:pPr marL="114300" indent="0">
              <a:buNone/>
            </a:pPr>
            <a:endParaRPr lang="en-US" dirty="0"/>
          </a:p>
          <a:p>
            <a:pPr marL="114300" indent="0">
              <a:buNone/>
            </a:pPr>
            <a:endParaRPr lang="en-IN" b="1" dirty="0"/>
          </a:p>
          <a:p>
            <a:pPr marL="114300" indent="0">
              <a:buNone/>
            </a:pPr>
            <a:r>
              <a:rPr lang="en-IN" sz="2000" b="1" dirty="0"/>
              <a:t>Output </a:t>
            </a:r>
          </a:p>
          <a:p>
            <a:pPr marL="114300" indent="0">
              <a:buNone/>
            </a:pPr>
            <a:endParaRPr lang="en-IN" b="1" dirty="0"/>
          </a:p>
          <a:p>
            <a:pPr marL="114300" indent="0">
              <a:buNone/>
            </a:pPr>
            <a:endParaRPr lang="en-IN" b="1" dirty="0"/>
          </a:p>
          <a:p>
            <a:pPr marL="114300" indent="0">
              <a:buNone/>
            </a:pPr>
            <a:endParaRPr lang="en-IN" b="1" dirty="0"/>
          </a:p>
          <a:p>
            <a:pPr lvl="0"/>
            <a:r>
              <a:rPr lang="en-US" sz="1800" dirty="0"/>
              <a:t>This query counts the number of orders placed on each order date. </a:t>
            </a:r>
          </a:p>
          <a:p>
            <a:pPr lvl="0"/>
            <a:r>
              <a:rPr lang="en-US" sz="1800" dirty="0"/>
              <a:t>It helps identify changes and trends in order volume over time.</a:t>
            </a:r>
          </a:p>
          <a:p>
            <a:pPr marL="114300" indent="0">
              <a:buNone/>
            </a:pPr>
            <a:endParaRPr lang="en-IN" sz="1800" dirty="0">
              <a:latin typeface="Times New Roman" panose="02020603050405020304" pitchFamily="18" charset="0"/>
              <a:cs typeface="Times New Roman" panose="02020603050405020304" pitchFamily="18" charset="0"/>
            </a:endParaRPr>
          </a:p>
          <a:p>
            <a:pPr marL="114300" indent="0">
              <a:buNone/>
            </a:pPr>
            <a:endParaRPr lang="en-US" dirty="0"/>
          </a:p>
        </p:txBody>
      </p:sp>
      <p:pic>
        <p:nvPicPr>
          <p:cNvPr id="5" name="Picture 4">
            <a:extLst>
              <a:ext uri="{FF2B5EF4-FFF2-40B4-BE49-F238E27FC236}">
                <a16:creationId xmlns:a16="http://schemas.microsoft.com/office/drawing/2014/main" id="{9E018F2E-C1BE-8AD1-E08E-76C07A66518E}"/>
              </a:ext>
            </a:extLst>
          </p:cNvPr>
          <p:cNvPicPr>
            <a:picLocks noChangeAspect="1"/>
          </p:cNvPicPr>
          <p:nvPr/>
        </p:nvPicPr>
        <p:blipFill>
          <a:blip r:embed="rId2"/>
          <a:stretch>
            <a:fillRect/>
          </a:stretch>
        </p:blipFill>
        <p:spPr>
          <a:xfrm>
            <a:off x="861646" y="1029028"/>
            <a:ext cx="6200336" cy="704020"/>
          </a:xfrm>
          <a:prstGeom prst="rect">
            <a:avLst/>
          </a:prstGeom>
        </p:spPr>
      </p:pic>
      <p:pic>
        <p:nvPicPr>
          <p:cNvPr id="7" name="Picture 6">
            <a:extLst>
              <a:ext uri="{FF2B5EF4-FFF2-40B4-BE49-F238E27FC236}">
                <a16:creationId xmlns:a16="http://schemas.microsoft.com/office/drawing/2014/main" id="{B50A0DA9-3158-DA86-9C9A-656FF40CAF71}"/>
              </a:ext>
            </a:extLst>
          </p:cNvPr>
          <p:cNvPicPr>
            <a:picLocks noChangeAspect="1"/>
          </p:cNvPicPr>
          <p:nvPr/>
        </p:nvPicPr>
        <p:blipFill>
          <a:blip r:embed="rId3"/>
          <a:stretch>
            <a:fillRect/>
          </a:stretch>
        </p:blipFill>
        <p:spPr>
          <a:xfrm>
            <a:off x="1113032" y="2753421"/>
            <a:ext cx="1348814" cy="1284007"/>
          </a:xfrm>
          <a:prstGeom prst="rect">
            <a:avLst/>
          </a:prstGeom>
        </p:spPr>
      </p:pic>
    </p:spTree>
    <p:extLst>
      <p:ext uri="{BB962C8B-B14F-4D97-AF65-F5344CB8AC3E}">
        <p14:creationId xmlns:p14="http://schemas.microsoft.com/office/powerpoint/2010/main" val="7484020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79F18-F9E2-0EC2-F142-4E5B67FFE08A}"/>
              </a:ext>
            </a:extLst>
          </p:cNvPr>
          <p:cNvSpPr>
            <a:spLocks noGrp="1"/>
          </p:cNvSpPr>
          <p:nvPr>
            <p:ph type="title"/>
          </p:nvPr>
        </p:nvSpPr>
        <p:spPr>
          <a:xfrm>
            <a:off x="838200" y="365126"/>
            <a:ext cx="10515600" cy="760290"/>
          </a:xfrm>
        </p:spPr>
        <p:txBody>
          <a:bodyPr>
            <a:normAutofit/>
          </a:bodyPr>
          <a:lstStyle/>
          <a:p>
            <a:r>
              <a:rPr lang="en-US" sz="2000" b="1" dirty="0">
                <a:latin typeface="Times New Roman" panose="02020603050405020304" pitchFamily="18" charset="0"/>
                <a:cs typeface="Times New Roman" panose="02020603050405020304" pitchFamily="18" charset="0"/>
              </a:rPr>
              <a:t>Look at order value across different groups.</a:t>
            </a:r>
          </a:p>
        </p:txBody>
      </p:sp>
      <p:sp>
        <p:nvSpPr>
          <p:cNvPr id="3" name="Text Placeholder 2">
            <a:extLst>
              <a:ext uri="{FF2B5EF4-FFF2-40B4-BE49-F238E27FC236}">
                <a16:creationId xmlns:a16="http://schemas.microsoft.com/office/drawing/2014/main" id="{5639E9FA-A9DF-99EC-3F5A-742ED3E551DE}"/>
              </a:ext>
            </a:extLst>
          </p:cNvPr>
          <p:cNvSpPr>
            <a:spLocks noGrp="1"/>
          </p:cNvSpPr>
          <p:nvPr>
            <p:ph type="body" idx="1"/>
          </p:nvPr>
        </p:nvSpPr>
        <p:spPr>
          <a:xfrm>
            <a:off x="838200" y="1364566"/>
            <a:ext cx="10515600" cy="4812397"/>
          </a:xfrm>
        </p:spPr>
        <p:txBody>
          <a:bodyPr/>
          <a:lstStyle/>
          <a:p>
            <a:pPr marL="114300" indent="0">
              <a:buNone/>
            </a:pPr>
            <a:endParaRPr lang="en-IN" b="1" dirty="0"/>
          </a:p>
          <a:p>
            <a:pPr marL="114300" indent="0">
              <a:buNone/>
            </a:pPr>
            <a:endParaRPr lang="en-IN" b="1" dirty="0"/>
          </a:p>
          <a:p>
            <a:pPr marL="114300" indent="0">
              <a:buNone/>
            </a:pPr>
            <a:r>
              <a:rPr lang="en-IN" sz="2000" b="1" dirty="0"/>
              <a:t>Output </a:t>
            </a:r>
            <a:endParaRPr lang="en-IN" b="1" dirty="0"/>
          </a:p>
          <a:p>
            <a:pPr marL="114300" indent="0">
              <a:buNone/>
            </a:pPr>
            <a:endParaRPr lang="en-IN" b="1" dirty="0"/>
          </a:p>
          <a:p>
            <a:pPr marL="114300" indent="0">
              <a:buNone/>
            </a:pPr>
            <a:endParaRPr lang="en-IN" b="1" dirty="0"/>
          </a:p>
          <a:p>
            <a:pPr marL="114300" indent="0">
              <a:buNone/>
            </a:pPr>
            <a:endParaRPr lang="en-IN" b="1" dirty="0"/>
          </a:p>
          <a:p>
            <a:pPr lvl="0"/>
            <a:r>
              <a:rPr lang="en-US" sz="1800" dirty="0"/>
              <a:t>This query calculates the total order value for each priority group. </a:t>
            </a:r>
          </a:p>
          <a:p>
            <a:pPr lvl="0"/>
            <a:r>
              <a:rPr lang="en-US" sz="1800" dirty="0"/>
              <a:t>It helps compare which priority group contributes the highest overall order value. </a:t>
            </a:r>
          </a:p>
          <a:p>
            <a:pPr marL="114300" indent="0">
              <a:buNone/>
            </a:pPr>
            <a:endParaRPr lang="en-US"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27C0075-D776-DE38-6169-EE5F73FD080A}"/>
              </a:ext>
            </a:extLst>
          </p:cNvPr>
          <p:cNvPicPr>
            <a:picLocks noChangeAspect="1"/>
          </p:cNvPicPr>
          <p:nvPr/>
        </p:nvPicPr>
        <p:blipFill>
          <a:blip r:embed="rId2"/>
          <a:stretch>
            <a:fillRect/>
          </a:stretch>
        </p:blipFill>
        <p:spPr>
          <a:xfrm>
            <a:off x="838199" y="1364567"/>
            <a:ext cx="6251917" cy="590841"/>
          </a:xfrm>
          <a:prstGeom prst="rect">
            <a:avLst/>
          </a:prstGeom>
        </p:spPr>
      </p:pic>
      <p:pic>
        <p:nvPicPr>
          <p:cNvPr id="7" name="Picture 6">
            <a:extLst>
              <a:ext uri="{FF2B5EF4-FFF2-40B4-BE49-F238E27FC236}">
                <a16:creationId xmlns:a16="http://schemas.microsoft.com/office/drawing/2014/main" id="{7DEAF1E8-1445-D6CF-C80F-A53EAB0CA513}"/>
              </a:ext>
            </a:extLst>
          </p:cNvPr>
          <p:cNvPicPr>
            <a:picLocks noChangeAspect="1"/>
          </p:cNvPicPr>
          <p:nvPr/>
        </p:nvPicPr>
        <p:blipFill>
          <a:blip r:embed="rId3"/>
          <a:stretch>
            <a:fillRect/>
          </a:stretch>
        </p:blipFill>
        <p:spPr>
          <a:xfrm>
            <a:off x="838200" y="2912012"/>
            <a:ext cx="1482970" cy="1139483"/>
          </a:xfrm>
          <a:prstGeom prst="rect">
            <a:avLst/>
          </a:prstGeom>
        </p:spPr>
      </p:pic>
    </p:spTree>
    <p:extLst>
      <p:ext uri="{BB962C8B-B14F-4D97-AF65-F5344CB8AC3E}">
        <p14:creationId xmlns:p14="http://schemas.microsoft.com/office/powerpoint/2010/main" val="3208092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0B3C8-7BE4-A054-AD8E-06919D4CA414}"/>
              </a:ext>
            </a:extLst>
          </p:cNvPr>
          <p:cNvSpPr>
            <a:spLocks noGrp="1"/>
          </p:cNvSpPr>
          <p:nvPr>
            <p:ph type="title"/>
          </p:nvPr>
        </p:nvSpPr>
        <p:spPr>
          <a:xfrm>
            <a:off x="838200" y="365126"/>
            <a:ext cx="10515600" cy="718086"/>
          </a:xfrm>
        </p:spPr>
        <p:txBody>
          <a:bodyPr>
            <a:normAutofit/>
          </a:bodyPr>
          <a:lstStyle/>
          <a:p>
            <a:r>
              <a:rPr lang="en-US" sz="2000" b="1" dirty="0">
                <a:latin typeface="Times New Roman" panose="02020603050405020304" pitchFamily="18" charset="0"/>
                <a:cs typeface="Times New Roman" panose="02020603050405020304" pitchFamily="18" charset="0"/>
              </a:rPr>
              <a:t>Compare customers based on the number of orders they place.</a:t>
            </a:r>
          </a:p>
        </p:txBody>
      </p:sp>
      <p:sp>
        <p:nvSpPr>
          <p:cNvPr id="3" name="Text Placeholder 2">
            <a:extLst>
              <a:ext uri="{FF2B5EF4-FFF2-40B4-BE49-F238E27FC236}">
                <a16:creationId xmlns:a16="http://schemas.microsoft.com/office/drawing/2014/main" id="{CD3BEB95-DA63-B618-34A4-5FA524F41753}"/>
              </a:ext>
            </a:extLst>
          </p:cNvPr>
          <p:cNvSpPr>
            <a:spLocks noGrp="1"/>
          </p:cNvSpPr>
          <p:nvPr>
            <p:ph type="body" idx="1"/>
          </p:nvPr>
        </p:nvSpPr>
        <p:spPr>
          <a:xfrm>
            <a:off x="838200" y="1223890"/>
            <a:ext cx="10515600" cy="4953073"/>
          </a:xfrm>
        </p:spPr>
        <p:txBody>
          <a:bodyPr>
            <a:normAutofit/>
          </a:bodyPr>
          <a:lstStyle/>
          <a:p>
            <a:pPr marL="114300" indent="0">
              <a:buNone/>
            </a:pPr>
            <a:endParaRPr lang="en-US" dirty="0"/>
          </a:p>
          <a:p>
            <a:pPr marL="114300" indent="0">
              <a:buNone/>
            </a:pPr>
            <a:endParaRPr lang="en-IN" b="1" dirty="0"/>
          </a:p>
          <a:p>
            <a:pPr marL="114300" indent="0">
              <a:buNone/>
            </a:pPr>
            <a:r>
              <a:rPr lang="en-IN" sz="2000" b="1" dirty="0"/>
              <a:t>Output </a:t>
            </a:r>
          </a:p>
          <a:p>
            <a:pPr marL="114300" indent="0">
              <a:buNone/>
            </a:pPr>
            <a:endParaRPr lang="en-IN" b="1" dirty="0"/>
          </a:p>
          <a:p>
            <a:pPr marL="114300" indent="0">
              <a:buNone/>
            </a:pPr>
            <a:endParaRPr lang="en-IN" b="1" dirty="0"/>
          </a:p>
          <a:p>
            <a:pPr marL="114300" indent="0">
              <a:buNone/>
            </a:pPr>
            <a:endParaRPr lang="en-IN" b="1" dirty="0"/>
          </a:p>
          <a:p>
            <a:pPr marL="114300" indent="0">
              <a:buNone/>
            </a:pPr>
            <a:endParaRPr lang="en-IN" b="1" dirty="0"/>
          </a:p>
          <a:p>
            <a:pPr lvl="0"/>
            <a:r>
              <a:rPr lang="en-US" sz="1800" dirty="0">
                <a:latin typeface="Times New Roman" panose="02020603050405020304" pitchFamily="18" charset="0"/>
                <a:cs typeface="Times New Roman" panose="02020603050405020304" pitchFamily="18" charset="0"/>
              </a:rPr>
              <a:t>This query counts the number of orders placed by each customer. </a:t>
            </a:r>
          </a:p>
          <a:p>
            <a:pPr lvl="0"/>
            <a:r>
              <a:rPr lang="en-US" sz="1800" dirty="0">
                <a:latin typeface="Times New Roman" panose="02020603050405020304" pitchFamily="18" charset="0"/>
                <a:cs typeface="Times New Roman" panose="02020603050405020304" pitchFamily="18" charset="0"/>
              </a:rPr>
              <a:t>It helps compare customers and identify frequent or high-order customers.</a:t>
            </a:r>
          </a:p>
          <a:p>
            <a:pPr marL="114300" indent="0">
              <a:buNone/>
            </a:pPr>
            <a:r>
              <a:rPr lang="en-IN" sz="1800" b="1" dirty="0">
                <a:latin typeface="Times New Roman" panose="02020603050405020304" pitchFamily="18" charset="0"/>
                <a:cs typeface="Times New Roman" panose="02020603050405020304" pitchFamily="18" charset="0"/>
              </a:rPr>
              <a:t> </a:t>
            </a:r>
          </a:p>
          <a:p>
            <a:pPr marL="114300" indent="0">
              <a:buNone/>
            </a:pPr>
            <a:endParaRPr lang="en-US" dirty="0"/>
          </a:p>
        </p:txBody>
      </p:sp>
      <p:pic>
        <p:nvPicPr>
          <p:cNvPr id="5" name="Picture 4">
            <a:extLst>
              <a:ext uri="{FF2B5EF4-FFF2-40B4-BE49-F238E27FC236}">
                <a16:creationId xmlns:a16="http://schemas.microsoft.com/office/drawing/2014/main" id="{C360FBE9-54FA-CED8-63F5-66261AFA7CD5}"/>
              </a:ext>
            </a:extLst>
          </p:cNvPr>
          <p:cNvPicPr>
            <a:picLocks noChangeAspect="1"/>
          </p:cNvPicPr>
          <p:nvPr/>
        </p:nvPicPr>
        <p:blipFill>
          <a:blip r:embed="rId2"/>
          <a:stretch>
            <a:fillRect/>
          </a:stretch>
        </p:blipFill>
        <p:spPr>
          <a:xfrm>
            <a:off x="967299" y="1215536"/>
            <a:ext cx="6783999" cy="571061"/>
          </a:xfrm>
          <a:prstGeom prst="rect">
            <a:avLst/>
          </a:prstGeom>
        </p:spPr>
      </p:pic>
      <p:pic>
        <p:nvPicPr>
          <p:cNvPr id="7" name="Picture 6">
            <a:extLst>
              <a:ext uri="{FF2B5EF4-FFF2-40B4-BE49-F238E27FC236}">
                <a16:creationId xmlns:a16="http://schemas.microsoft.com/office/drawing/2014/main" id="{8D7D9595-1F48-D7AB-2902-81DB1729A0FD}"/>
              </a:ext>
            </a:extLst>
          </p:cNvPr>
          <p:cNvPicPr>
            <a:picLocks noChangeAspect="1"/>
          </p:cNvPicPr>
          <p:nvPr/>
        </p:nvPicPr>
        <p:blipFill>
          <a:blip r:embed="rId3"/>
          <a:stretch>
            <a:fillRect/>
          </a:stretch>
        </p:blipFill>
        <p:spPr>
          <a:xfrm>
            <a:off x="838200" y="2774852"/>
            <a:ext cx="2172286" cy="1308295"/>
          </a:xfrm>
          <a:prstGeom prst="rect">
            <a:avLst/>
          </a:prstGeom>
        </p:spPr>
      </p:pic>
    </p:spTree>
    <p:extLst>
      <p:ext uri="{BB962C8B-B14F-4D97-AF65-F5344CB8AC3E}">
        <p14:creationId xmlns:p14="http://schemas.microsoft.com/office/powerpoint/2010/main" val="28230546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39749-9E45-C1EC-3EF2-4CA3689AB084}"/>
              </a:ext>
            </a:extLst>
          </p:cNvPr>
          <p:cNvSpPr>
            <a:spLocks noGrp="1"/>
          </p:cNvSpPr>
          <p:nvPr>
            <p:ph type="title"/>
          </p:nvPr>
        </p:nvSpPr>
        <p:spPr>
          <a:xfrm>
            <a:off x="838200" y="365126"/>
            <a:ext cx="10515600" cy="760290"/>
          </a:xfrm>
        </p:spPr>
        <p:txBody>
          <a:bodyPr>
            <a:normAutofit/>
          </a:bodyPr>
          <a:lstStyle/>
          <a:p>
            <a:r>
              <a:rPr lang="en-US" sz="2000" b="1" dirty="0">
                <a:latin typeface="Times New Roman" panose="02020603050405020304" pitchFamily="18" charset="0"/>
                <a:cs typeface="Times New Roman" panose="02020603050405020304" pitchFamily="18" charset="0"/>
              </a:rPr>
              <a:t>Identify customers with higher total order value.</a:t>
            </a:r>
          </a:p>
        </p:txBody>
      </p:sp>
      <p:sp>
        <p:nvSpPr>
          <p:cNvPr id="3" name="Text Placeholder 2">
            <a:extLst>
              <a:ext uri="{FF2B5EF4-FFF2-40B4-BE49-F238E27FC236}">
                <a16:creationId xmlns:a16="http://schemas.microsoft.com/office/drawing/2014/main" id="{69238FA1-5A7B-B49C-0455-8B17533F1926}"/>
              </a:ext>
            </a:extLst>
          </p:cNvPr>
          <p:cNvSpPr>
            <a:spLocks noGrp="1"/>
          </p:cNvSpPr>
          <p:nvPr>
            <p:ph type="body" idx="1"/>
          </p:nvPr>
        </p:nvSpPr>
        <p:spPr>
          <a:xfrm>
            <a:off x="838200" y="1294228"/>
            <a:ext cx="10515600" cy="4882735"/>
          </a:xfrm>
        </p:spPr>
        <p:txBody>
          <a:bodyPr>
            <a:normAutofit/>
          </a:bodyPr>
          <a:lstStyle/>
          <a:p>
            <a:pPr marL="114300" indent="0">
              <a:buNone/>
            </a:pPr>
            <a:endParaRPr lang="en-US" dirty="0"/>
          </a:p>
          <a:p>
            <a:pPr marL="114300" indent="0">
              <a:buNone/>
            </a:pPr>
            <a:endParaRPr lang="en-US" dirty="0"/>
          </a:p>
          <a:p>
            <a:pPr marL="114300" indent="0">
              <a:buNone/>
            </a:pPr>
            <a:r>
              <a:rPr lang="en-IN" sz="2000" b="1" dirty="0"/>
              <a:t>Output </a:t>
            </a:r>
            <a:r>
              <a:rPr lang="en-IN" b="1" dirty="0"/>
              <a:t> </a:t>
            </a:r>
          </a:p>
          <a:p>
            <a:pPr marL="114300" indent="0">
              <a:buNone/>
            </a:pPr>
            <a:endParaRPr lang="en-US" dirty="0"/>
          </a:p>
          <a:p>
            <a:pPr marL="114300" indent="0">
              <a:buNone/>
            </a:pPr>
            <a:endParaRPr lang="en-US" dirty="0"/>
          </a:p>
          <a:p>
            <a:pPr marL="114300" indent="0">
              <a:buNone/>
            </a:pPr>
            <a:endParaRPr lang="en-US" dirty="0"/>
          </a:p>
          <a:p>
            <a:pPr lvl="0"/>
            <a:endParaRPr lang="en-US" sz="2000" dirty="0">
              <a:latin typeface="Times New Roman" panose="02020603050405020304" pitchFamily="18" charset="0"/>
              <a:cs typeface="Times New Roman" panose="02020603050405020304" pitchFamily="18" charset="0"/>
            </a:endParaRPr>
          </a:p>
          <a:p>
            <a:pPr lvl="0"/>
            <a:r>
              <a:rPr lang="en-US" sz="1800" dirty="0">
                <a:latin typeface="Times New Roman" panose="02020603050405020304" pitchFamily="18" charset="0"/>
                <a:cs typeface="Times New Roman" panose="02020603050405020304" pitchFamily="18" charset="0"/>
              </a:rPr>
              <a:t>calculates the total order value for each customer. </a:t>
            </a:r>
          </a:p>
          <a:p>
            <a:pPr lvl="0"/>
            <a:r>
              <a:rPr lang="en-US" sz="1800" dirty="0">
                <a:latin typeface="Times New Roman" panose="02020603050405020304" pitchFamily="18" charset="0"/>
                <a:cs typeface="Times New Roman" panose="02020603050405020304" pitchFamily="18" charset="0"/>
              </a:rPr>
              <a:t>It helps identify customers who contribute the highest revenue. </a:t>
            </a:r>
          </a:p>
          <a:p>
            <a:pPr marL="114300" indent="0">
              <a:buNone/>
            </a:pPr>
            <a:endParaRPr lang="en-US" dirty="0"/>
          </a:p>
        </p:txBody>
      </p:sp>
      <p:pic>
        <p:nvPicPr>
          <p:cNvPr id="5" name="Picture 4">
            <a:extLst>
              <a:ext uri="{FF2B5EF4-FFF2-40B4-BE49-F238E27FC236}">
                <a16:creationId xmlns:a16="http://schemas.microsoft.com/office/drawing/2014/main" id="{8099C0A1-E92C-E35A-577A-FF54AB5362EB}"/>
              </a:ext>
            </a:extLst>
          </p:cNvPr>
          <p:cNvPicPr>
            <a:picLocks noChangeAspect="1"/>
          </p:cNvPicPr>
          <p:nvPr/>
        </p:nvPicPr>
        <p:blipFill>
          <a:blip r:embed="rId2"/>
          <a:stretch>
            <a:fillRect/>
          </a:stretch>
        </p:blipFill>
        <p:spPr>
          <a:xfrm>
            <a:off x="948176" y="1125418"/>
            <a:ext cx="7098544" cy="1125414"/>
          </a:xfrm>
          <a:prstGeom prst="rect">
            <a:avLst/>
          </a:prstGeom>
        </p:spPr>
      </p:pic>
      <p:pic>
        <p:nvPicPr>
          <p:cNvPr id="7" name="Picture 6">
            <a:extLst>
              <a:ext uri="{FF2B5EF4-FFF2-40B4-BE49-F238E27FC236}">
                <a16:creationId xmlns:a16="http://schemas.microsoft.com/office/drawing/2014/main" id="{C93C0A5B-1712-F230-C7EA-E4B6140CBBD0}"/>
              </a:ext>
            </a:extLst>
          </p:cNvPr>
          <p:cNvPicPr>
            <a:picLocks noChangeAspect="1"/>
          </p:cNvPicPr>
          <p:nvPr/>
        </p:nvPicPr>
        <p:blipFill>
          <a:blip r:embed="rId3"/>
          <a:stretch>
            <a:fillRect/>
          </a:stretch>
        </p:blipFill>
        <p:spPr>
          <a:xfrm>
            <a:off x="838199" y="2900730"/>
            <a:ext cx="2298895" cy="1544661"/>
          </a:xfrm>
          <a:prstGeom prst="rect">
            <a:avLst/>
          </a:prstGeom>
        </p:spPr>
      </p:pic>
    </p:spTree>
    <p:extLst>
      <p:ext uri="{BB962C8B-B14F-4D97-AF65-F5344CB8AC3E}">
        <p14:creationId xmlns:p14="http://schemas.microsoft.com/office/powerpoint/2010/main" val="2976011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59DB3-1DEB-C2CA-1BB2-059AD79C38AB}"/>
              </a:ext>
            </a:extLst>
          </p:cNvPr>
          <p:cNvSpPr>
            <a:spLocks noGrp="1"/>
          </p:cNvSpPr>
          <p:nvPr>
            <p:ph type="title"/>
          </p:nvPr>
        </p:nvSpPr>
        <p:spPr>
          <a:xfrm>
            <a:off x="838200" y="365126"/>
            <a:ext cx="10515600" cy="872832"/>
          </a:xfrm>
        </p:spPr>
        <p:txBody>
          <a:bodyPr>
            <a:normAutofit/>
          </a:bodyPr>
          <a:lstStyle/>
          <a:p>
            <a:r>
              <a:rPr lang="en-US" sz="2000" b="1" dirty="0">
                <a:latin typeface="Times New Roman" panose="02020603050405020304" pitchFamily="18" charset="0"/>
                <a:cs typeface="Times New Roman" panose="02020603050405020304" pitchFamily="18" charset="0"/>
              </a:rPr>
              <a:t>Compare customer activity across delivery zones.</a:t>
            </a:r>
          </a:p>
        </p:txBody>
      </p:sp>
      <p:sp>
        <p:nvSpPr>
          <p:cNvPr id="3" name="Text Placeholder 2">
            <a:extLst>
              <a:ext uri="{FF2B5EF4-FFF2-40B4-BE49-F238E27FC236}">
                <a16:creationId xmlns:a16="http://schemas.microsoft.com/office/drawing/2014/main" id="{86891BC5-C225-E1D1-BF16-CC04999ABE9E}"/>
              </a:ext>
            </a:extLst>
          </p:cNvPr>
          <p:cNvSpPr>
            <a:spLocks noGrp="1"/>
          </p:cNvSpPr>
          <p:nvPr>
            <p:ph type="body" idx="1"/>
          </p:nvPr>
        </p:nvSpPr>
        <p:spPr>
          <a:xfrm>
            <a:off x="838200" y="1237958"/>
            <a:ext cx="10515600" cy="4939005"/>
          </a:xfrm>
        </p:spPr>
        <p:txBody>
          <a:bodyPr>
            <a:normAutofit/>
          </a:bodyPr>
          <a:lstStyle/>
          <a:p>
            <a:pPr marL="114300" indent="0">
              <a:buNone/>
            </a:pPr>
            <a:endParaRPr lang="en-IN" b="1" dirty="0"/>
          </a:p>
          <a:p>
            <a:pPr marL="114300" indent="0">
              <a:buNone/>
            </a:pPr>
            <a:endParaRPr lang="en-IN" b="1" dirty="0"/>
          </a:p>
          <a:p>
            <a:pPr marL="114300" indent="0">
              <a:buNone/>
            </a:pPr>
            <a:r>
              <a:rPr lang="en-IN" sz="2200" b="1" dirty="0"/>
              <a:t>Output </a:t>
            </a:r>
          </a:p>
          <a:p>
            <a:pPr marL="114300" indent="0">
              <a:buNone/>
            </a:pPr>
            <a:endParaRPr lang="en-IN" b="1" dirty="0"/>
          </a:p>
          <a:p>
            <a:pPr marL="114300" indent="0">
              <a:buNone/>
            </a:pPr>
            <a:endParaRPr lang="en-IN" b="1" dirty="0"/>
          </a:p>
          <a:p>
            <a:pPr marL="114300" indent="0">
              <a:buNone/>
            </a:pPr>
            <a:endParaRPr lang="en-IN" b="1" dirty="0"/>
          </a:p>
          <a:p>
            <a:pPr marL="114300" lvl="0" indent="0">
              <a:buNone/>
            </a:pPr>
            <a:endParaRPr lang="en-US" sz="2200" b="1" dirty="0">
              <a:latin typeface="Times New Roman" panose="02020603050405020304" pitchFamily="18" charset="0"/>
              <a:cs typeface="Times New Roman" panose="02020603050405020304" pitchFamily="18" charset="0"/>
            </a:endParaRPr>
          </a:p>
          <a:p>
            <a:pPr lvl="0"/>
            <a:r>
              <a:rPr lang="en-US" sz="1800" dirty="0">
                <a:latin typeface="Times New Roman" panose="02020603050405020304" pitchFamily="18" charset="0"/>
                <a:cs typeface="Times New Roman" panose="02020603050405020304" pitchFamily="18" charset="0"/>
              </a:rPr>
              <a:t>counts the number of customer orders in each delivery zone. </a:t>
            </a:r>
          </a:p>
          <a:p>
            <a:pPr lvl="0"/>
            <a:r>
              <a:rPr lang="en-US" sz="1800" dirty="0">
                <a:latin typeface="Times New Roman" panose="02020603050405020304" pitchFamily="18" charset="0"/>
                <a:cs typeface="Times New Roman" panose="02020603050405020304" pitchFamily="18" charset="0"/>
              </a:rPr>
              <a:t>It helps identify which delivery zones have higher customer activity. </a:t>
            </a:r>
          </a:p>
          <a:p>
            <a:pPr marL="114300" indent="0">
              <a:buNone/>
            </a:pPr>
            <a:r>
              <a:rPr lang="en-IN" sz="1800" b="1" dirty="0">
                <a:latin typeface="Times New Roman" panose="02020603050405020304" pitchFamily="18" charset="0"/>
                <a:cs typeface="Times New Roman" panose="02020603050405020304" pitchFamily="18" charset="0"/>
              </a:rPr>
              <a:t> </a:t>
            </a:r>
          </a:p>
          <a:p>
            <a:pPr marL="114300" indent="0">
              <a:buNone/>
            </a:pPr>
            <a:endParaRPr lang="en-US" dirty="0"/>
          </a:p>
        </p:txBody>
      </p:sp>
      <p:pic>
        <p:nvPicPr>
          <p:cNvPr id="5" name="Picture 4">
            <a:extLst>
              <a:ext uri="{FF2B5EF4-FFF2-40B4-BE49-F238E27FC236}">
                <a16:creationId xmlns:a16="http://schemas.microsoft.com/office/drawing/2014/main" id="{9E1BF30D-3444-3468-F2D2-FACC8A781D79}"/>
              </a:ext>
            </a:extLst>
          </p:cNvPr>
          <p:cNvPicPr>
            <a:picLocks noChangeAspect="1"/>
          </p:cNvPicPr>
          <p:nvPr/>
        </p:nvPicPr>
        <p:blipFill>
          <a:blip r:embed="rId2"/>
          <a:stretch>
            <a:fillRect/>
          </a:stretch>
        </p:blipFill>
        <p:spPr>
          <a:xfrm>
            <a:off x="838200" y="1237959"/>
            <a:ext cx="7447671" cy="675247"/>
          </a:xfrm>
          <a:prstGeom prst="rect">
            <a:avLst/>
          </a:prstGeom>
        </p:spPr>
      </p:pic>
      <p:pic>
        <p:nvPicPr>
          <p:cNvPr id="7" name="Picture 6">
            <a:extLst>
              <a:ext uri="{FF2B5EF4-FFF2-40B4-BE49-F238E27FC236}">
                <a16:creationId xmlns:a16="http://schemas.microsoft.com/office/drawing/2014/main" id="{BF7B5CA0-148B-D5CC-DB92-4FCC3CCB1804}"/>
              </a:ext>
            </a:extLst>
          </p:cNvPr>
          <p:cNvPicPr>
            <a:picLocks noChangeAspect="1"/>
          </p:cNvPicPr>
          <p:nvPr/>
        </p:nvPicPr>
        <p:blipFill>
          <a:blip r:embed="rId3"/>
          <a:stretch>
            <a:fillRect/>
          </a:stretch>
        </p:blipFill>
        <p:spPr>
          <a:xfrm>
            <a:off x="838200" y="2819511"/>
            <a:ext cx="1637714" cy="1386729"/>
          </a:xfrm>
          <a:prstGeom prst="rect">
            <a:avLst/>
          </a:prstGeom>
        </p:spPr>
      </p:pic>
    </p:spTree>
    <p:extLst>
      <p:ext uri="{BB962C8B-B14F-4D97-AF65-F5344CB8AC3E}">
        <p14:creationId xmlns:p14="http://schemas.microsoft.com/office/powerpoint/2010/main" val="28482669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840E8-FC90-93CD-640C-785D35D3C915}"/>
              </a:ext>
            </a:extLst>
          </p:cNvPr>
          <p:cNvSpPr>
            <a:spLocks noGrp="1"/>
          </p:cNvSpPr>
          <p:nvPr>
            <p:ph type="title"/>
          </p:nvPr>
        </p:nvSpPr>
        <p:spPr>
          <a:xfrm>
            <a:off x="838200" y="140677"/>
            <a:ext cx="10515600" cy="787791"/>
          </a:xfrm>
        </p:spPr>
        <p:txBody>
          <a:bodyPr>
            <a:normAutofit/>
          </a:bodyPr>
          <a:lstStyle/>
          <a:p>
            <a:r>
              <a:rPr lang="en-US" sz="2000" b="1" dirty="0">
                <a:latin typeface="Times New Roman" panose="02020603050405020304" pitchFamily="18" charset="0"/>
                <a:cs typeface="Times New Roman" panose="02020603050405020304" pitchFamily="18" charset="0"/>
              </a:rPr>
              <a:t>Look at differences between business and individual customers.</a:t>
            </a:r>
          </a:p>
        </p:txBody>
      </p:sp>
      <p:sp>
        <p:nvSpPr>
          <p:cNvPr id="3" name="Text Placeholder 2">
            <a:extLst>
              <a:ext uri="{FF2B5EF4-FFF2-40B4-BE49-F238E27FC236}">
                <a16:creationId xmlns:a16="http://schemas.microsoft.com/office/drawing/2014/main" id="{4ED83989-9CFE-48B9-58E5-EA41CB5B6187}"/>
              </a:ext>
            </a:extLst>
          </p:cNvPr>
          <p:cNvSpPr>
            <a:spLocks noGrp="1"/>
          </p:cNvSpPr>
          <p:nvPr>
            <p:ph type="body" idx="1"/>
          </p:nvPr>
        </p:nvSpPr>
        <p:spPr>
          <a:xfrm>
            <a:off x="838200" y="1153551"/>
            <a:ext cx="10515600" cy="5023412"/>
          </a:xfrm>
        </p:spPr>
        <p:txBody>
          <a:bodyPr>
            <a:normAutofit/>
          </a:bodyPr>
          <a:lstStyle/>
          <a:p>
            <a:pPr marL="114300" indent="0">
              <a:buNone/>
            </a:pPr>
            <a:endParaRPr lang="en-IN" b="1" dirty="0"/>
          </a:p>
          <a:p>
            <a:pPr marL="114300" indent="0">
              <a:buNone/>
            </a:pPr>
            <a:endParaRPr lang="en-IN" b="1" dirty="0"/>
          </a:p>
          <a:p>
            <a:pPr marL="114300" indent="0">
              <a:buNone/>
            </a:pPr>
            <a:r>
              <a:rPr lang="en-IN" sz="2000" b="1" dirty="0"/>
              <a:t>Output </a:t>
            </a:r>
          </a:p>
          <a:p>
            <a:pPr marL="114300" indent="0">
              <a:buNone/>
            </a:pPr>
            <a:endParaRPr lang="en-IN" b="1" dirty="0"/>
          </a:p>
          <a:p>
            <a:pPr marL="114300" indent="0">
              <a:buNone/>
            </a:pPr>
            <a:endParaRPr lang="en-IN" b="1" dirty="0"/>
          </a:p>
          <a:p>
            <a:pPr lvl="0"/>
            <a:r>
              <a:rPr lang="en-US" sz="1800" dirty="0">
                <a:latin typeface="Times New Roman" panose="02020603050405020304" pitchFamily="18" charset="0"/>
                <a:cs typeface="Times New Roman" panose="02020603050405020304" pitchFamily="18" charset="0"/>
              </a:rPr>
              <a:t>counts customers based on their customer type, such as Business and Individual. </a:t>
            </a:r>
          </a:p>
          <a:p>
            <a:pPr lvl="0"/>
            <a:r>
              <a:rPr lang="en-US" sz="1800" dirty="0">
                <a:latin typeface="Times New Roman" panose="02020603050405020304" pitchFamily="18" charset="0"/>
                <a:cs typeface="Times New Roman" panose="02020603050405020304" pitchFamily="18" charset="0"/>
              </a:rPr>
              <a:t>It helps compare the number of Business and Individual customers. </a:t>
            </a:r>
            <a:endParaRPr lang="en-IN" sz="2400" dirty="0"/>
          </a:p>
          <a:p>
            <a:pPr marL="114300" indent="0">
              <a:buNone/>
            </a:pPr>
            <a:endParaRPr lang="en-US" dirty="0"/>
          </a:p>
        </p:txBody>
      </p:sp>
      <p:pic>
        <p:nvPicPr>
          <p:cNvPr id="5" name="Picture 4">
            <a:extLst>
              <a:ext uri="{FF2B5EF4-FFF2-40B4-BE49-F238E27FC236}">
                <a16:creationId xmlns:a16="http://schemas.microsoft.com/office/drawing/2014/main" id="{BD5609B2-32D3-30A5-AC60-04B1873BFCF5}"/>
              </a:ext>
            </a:extLst>
          </p:cNvPr>
          <p:cNvPicPr>
            <a:picLocks noChangeAspect="1"/>
          </p:cNvPicPr>
          <p:nvPr/>
        </p:nvPicPr>
        <p:blipFill>
          <a:blip r:embed="rId2"/>
          <a:stretch>
            <a:fillRect/>
          </a:stretch>
        </p:blipFill>
        <p:spPr>
          <a:xfrm>
            <a:off x="838200" y="1153551"/>
            <a:ext cx="6800557" cy="675249"/>
          </a:xfrm>
          <a:prstGeom prst="rect">
            <a:avLst/>
          </a:prstGeom>
        </p:spPr>
      </p:pic>
      <p:pic>
        <p:nvPicPr>
          <p:cNvPr id="7" name="Picture 6">
            <a:extLst>
              <a:ext uri="{FF2B5EF4-FFF2-40B4-BE49-F238E27FC236}">
                <a16:creationId xmlns:a16="http://schemas.microsoft.com/office/drawing/2014/main" id="{A3FE49E2-87CD-9670-395B-600F5B1D17F1}"/>
              </a:ext>
            </a:extLst>
          </p:cNvPr>
          <p:cNvPicPr>
            <a:picLocks noChangeAspect="1"/>
          </p:cNvPicPr>
          <p:nvPr/>
        </p:nvPicPr>
        <p:blipFill>
          <a:blip r:embed="rId3"/>
          <a:stretch>
            <a:fillRect/>
          </a:stretch>
        </p:blipFill>
        <p:spPr>
          <a:xfrm>
            <a:off x="838200" y="2732649"/>
            <a:ext cx="1961271" cy="924951"/>
          </a:xfrm>
          <a:prstGeom prst="rect">
            <a:avLst/>
          </a:prstGeom>
        </p:spPr>
      </p:pic>
    </p:spTree>
    <p:extLst>
      <p:ext uri="{BB962C8B-B14F-4D97-AF65-F5344CB8AC3E}">
        <p14:creationId xmlns:p14="http://schemas.microsoft.com/office/powerpoint/2010/main" val="19097993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79B89-B318-21CB-56B4-88677084DDC1}"/>
              </a:ext>
            </a:extLst>
          </p:cNvPr>
          <p:cNvSpPr>
            <a:spLocks noGrp="1"/>
          </p:cNvSpPr>
          <p:nvPr>
            <p:ph type="title"/>
          </p:nvPr>
        </p:nvSpPr>
        <p:spPr>
          <a:xfrm>
            <a:off x="838200" y="209452"/>
            <a:ext cx="10515600" cy="789354"/>
          </a:xfrm>
        </p:spPr>
        <p:txBody>
          <a:bodyPr>
            <a:normAutofit/>
          </a:bodyPr>
          <a:lstStyle/>
          <a:p>
            <a:r>
              <a:rPr lang="en-US" sz="2000" b="1" dirty="0">
                <a:latin typeface="Times New Roman" panose="02020603050405020304" pitchFamily="18" charset="0"/>
                <a:cs typeface="Times New Roman" panose="02020603050405020304" pitchFamily="18" charset="0"/>
              </a:rPr>
              <a:t>Examine customer ordering patterns over time.</a:t>
            </a:r>
          </a:p>
        </p:txBody>
      </p:sp>
      <p:sp>
        <p:nvSpPr>
          <p:cNvPr id="3" name="Text Placeholder 2">
            <a:extLst>
              <a:ext uri="{FF2B5EF4-FFF2-40B4-BE49-F238E27FC236}">
                <a16:creationId xmlns:a16="http://schemas.microsoft.com/office/drawing/2014/main" id="{9E5C80E6-807E-E43B-0CC8-8D069566ADED}"/>
              </a:ext>
            </a:extLst>
          </p:cNvPr>
          <p:cNvSpPr>
            <a:spLocks noGrp="1"/>
          </p:cNvSpPr>
          <p:nvPr>
            <p:ph type="body" idx="1"/>
          </p:nvPr>
        </p:nvSpPr>
        <p:spPr>
          <a:xfrm>
            <a:off x="838200" y="1125415"/>
            <a:ext cx="10515600" cy="5051548"/>
          </a:xfrm>
        </p:spPr>
        <p:txBody>
          <a:bodyPr>
            <a:normAutofit fontScale="92500" lnSpcReduction="10000"/>
          </a:bodyPr>
          <a:lstStyle/>
          <a:p>
            <a:pPr marL="114300" indent="0">
              <a:buNone/>
            </a:pPr>
            <a:endParaRPr lang="en-US" dirty="0"/>
          </a:p>
          <a:p>
            <a:pPr marL="114300" indent="0">
              <a:buNone/>
            </a:pPr>
            <a:endParaRPr lang="en-US" dirty="0"/>
          </a:p>
          <a:p>
            <a:pPr marL="114300" indent="0">
              <a:buNone/>
            </a:pPr>
            <a:endParaRPr lang="en-IN" b="1" dirty="0"/>
          </a:p>
          <a:p>
            <a:pPr marL="114300" indent="0">
              <a:buNone/>
            </a:pPr>
            <a:r>
              <a:rPr lang="en-IN" sz="2200" b="1" dirty="0"/>
              <a:t>Output :</a:t>
            </a:r>
          </a:p>
          <a:p>
            <a:pPr marL="114300" indent="0">
              <a:buNone/>
            </a:pPr>
            <a:endParaRPr lang="en-IN" b="1" dirty="0"/>
          </a:p>
          <a:p>
            <a:pPr marL="114300" indent="0">
              <a:buNone/>
            </a:pPr>
            <a:endParaRPr lang="en-IN" b="1" dirty="0"/>
          </a:p>
          <a:p>
            <a:pPr marL="114300" indent="0">
              <a:buNone/>
            </a:pPr>
            <a:endParaRPr lang="en-IN" b="1" dirty="0"/>
          </a:p>
          <a:p>
            <a:pPr lvl="0"/>
            <a:endParaRPr lang="en-US" sz="2200" b="1" dirty="0">
              <a:latin typeface="Times New Roman" panose="02020603050405020304" pitchFamily="18" charset="0"/>
              <a:cs typeface="Times New Roman" panose="02020603050405020304" pitchFamily="18" charset="0"/>
            </a:endParaRPr>
          </a:p>
          <a:p>
            <a:pPr lvl="0"/>
            <a:endParaRPr lang="en-US" sz="2200" b="1" dirty="0">
              <a:latin typeface="Times New Roman" panose="02020603050405020304" pitchFamily="18" charset="0"/>
              <a:cs typeface="Times New Roman" panose="02020603050405020304" pitchFamily="18" charset="0"/>
            </a:endParaRPr>
          </a:p>
          <a:p>
            <a:pPr lvl="0"/>
            <a:r>
              <a:rPr lang="en-US" sz="1900" dirty="0">
                <a:latin typeface="Times New Roman" panose="02020603050405020304" pitchFamily="18" charset="0"/>
                <a:cs typeface="Times New Roman" panose="02020603050405020304" pitchFamily="18" charset="0"/>
              </a:rPr>
              <a:t>counts the total orders for each month and year. </a:t>
            </a:r>
          </a:p>
          <a:p>
            <a:pPr lvl="0"/>
            <a:r>
              <a:rPr lang="en-US" sz="1900" dirty="0">
                <a:latin typeface="Times New Roman" panose="02020603050405020304" pitchFamily="18" charset="0"/>
                <a:cs typeface="Times New Roman" panose="02020603050405020304" pitchFamily="18" charset="0"/>
              </a:rPr>
              <a:t>It helps identify customer ordering patterns and changes in order volume over time.</a:t>
            </a:r>
          </a:p>
          <a:p>
            <a:pPr marL="114300" indent="0">
              <a:buNone/>
            </a:pPr>
            <a:r>
              <a:rPr lang="en-IN" sz="1900" dirty="0">
                <a:latin typeface="Times New Roman" panose="02020603050405020304" pitchFamily="18" charset="0"/>
                <a:cs typeface="Times New Roman" panose="02020603050405020304" pitchFamily="18" charset="0"/>
              </a:rPr>
              <a:t> </a:t>
            </a:r>
          </a:p>
          <a:p>
            <a:pPr marL="114300" indent="0">
              <a:buNone/>
            </a:pPr>
            <a:endParaRPr lang="en-US" dirty="0"/>
          </a:p>
        </p:txBody>
      </p:sp>
      <p:pic>
        <p:nvPicPr>
          <p:cNvPr id="5" name="Picture 4">
            <a:extLst>
              <a:ext uri="{FF2B5EF4-FFF2-40B4-BE49-F238E27FC236}">
                <a16:creationId xmlns:a16="http://schemas.microsoft.com/office/drawing/2014/main" id="{EBE2E656-E3F2-54D2-A488-C85AEE73C287}"/>
              </a:ext>
            </a:extLst>
          </p:cNvPr>
          <p:cNvPicPr>
            <a:picLocks noChangeAspect="1"/>
          </p:cNvPicPr>
          <p:nvPr/>
        </p:nvPicPr>
        <p:blipFill>
          <a:blip r:embed="rId2"/>
          <a:stretch>
            <a:fillRect/>
          </a:stretch>
        </p:blipFill>
        <p:spPr>
          <a:xfrm>
            <a:off x="838200" y="998806"/>
            <a:ext cx="6941233" cy="1308296"/>
          </a:xfrm>
          <a:prstGeom prst="rect">
            <a:avLst/>
          </a:prstGeom>
        </p:spPr>
      </p:pic>
      <p:pic>
        <p:nvPicPr>
          <p:cNvPr id="9" name="Picture 8">
            <a:extLst>
              <a:ext uri="{FF2B5EF4-FFF2-40B4-BE49-F238E27FC236}">
                <a16:creationId xmlns:a16="http://schemas.microsoft.com/office/drawing/2014/main" id="{DE8C0FF9-3B3F-7644-E759-89EC35EBC3F8}"/>
              </a:ext>
            </a:extLst>
          </p:cNvPr>
          <p:cNvPicPr>
            <a:picLocks noChangeAspect="1"/>
          </p:cNvPicPr>
          <p:nvPr/>
        </p:nvPicPr>
        <p:blipFill>
          <a:blip r:embed="rId3"/>
          <a:stretch>
            <a:fillRect/>
          </a:stretch>
        </p:blipFill>
        <p:spPr>
          <a:xfrm>
            <a:off x="1205425" y="2912012"/>
            <a:ext cx="1987941" cy="2053883"/>
          </a:xfrm>
          <a:prstGeom prst="rect">
            <a:avLst/>
          </a:prstGeom>
        </p:spPr>
      </p:pic>
    </p:spTree>
    <p:extLst>
      <p:ext uri="{BB962C8B-B14F-4D97-AF65-F5344CB8AC3E}">
        <p14:creationId xmlns:p14="http://schemas.microsoft.com/office/powerpoint/2010/main" val="36845871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CF0E8-5BD8-9A5E-676F-91DF46D213A0}"/>
              </a:ext>
            </a:extLst>
          </p:cNvPr>
          <p:cNvSpPr>
            <a:spLocks noGrp="1"/>
          </p:cNvSpPr>
          <p:nvPr>
            <p:ph type="title"/>
          </p:nvPr>
        </p:nvSpPr>
        <p:spPr/>
        <p:txBody>
          <a:bodyPr>
            <a:normAutofit/>
          </a:bodyPr>
          <a:lstStyle/>
          <a:p>
            <a:r>
              <a:rPr lang="en-US" sz="2000" b="1" dirty="0">
                <a:latin typeface="Times New Roman" panose="02020603050405020304" pitchFamily="18" charset="0"/>
                <a:cs typeface="Times New Roman" panose="02020603050405020304" pitchFamily="18" charset="0"/>
              </a:rPr>
              <a:t>Compare delivery outcomes across different zones (zone information is on the orders table, so you will need to connect orders and deliveries).</a:t>
            </a:r>
          </a:p>
        </p:txBody>
      </p:sp>
      <p:sp>
        <p:nvSpPr>
          <p:cNvPr id="3" name="Text Placeholder 2">
            <a:extLst>
              <a:ext uri="{FF2B5EF4-FFF2-40B4-BE49-F238E27FC236}">
                <a16:creationId xmlns:a16="http://schemas.microsoft.com/office/drawing/2014/main" id="{5AD69A51-F672-FF5D-D2D6-911553C36C9A}"/>
              </a:ext>
            </a:extLst>
          </p:cNvPr>
          <p:cNvSpPr>
            <a:spLocks noGrp="1"/>
          </p:cNvSpPr>
          <p:nvPr>
            <p:ph type="body" idx="1"/>
          </p:nvPr>
        </p:nvSpPr>
        <p:spPr>
          <a:xfrm>
            <a:off x="838200" y="1420838"/>
            <a:ext cx="10515600" cy="5176910"/>
          </a:xfrm>
        </p:spPr>
        <p:txBody>
          <a:bodyPr>
            <a:normAutofit/>
          </a:bodyPr>
          <a:lstStyle/>
          <a:p>
            <a:pPr marL="114300" indent="0">
              <a:buNone/>
            </a:pPr>
            <a:endParaRPr lang="en-US" dirty="0"/>
          </a:p>
          <a:p>
            <a:pPr marL="114300" indent="0">
              <a:buNone/>
            </a:pPr>
            <a:endParaRPr lang="en-US" dirty="0"/>
          </a:p>
          <a:p>
            <a:pPr marL="114300" indent="0">
              <a:buNone/>
            </a:pPr>
            <a:endParaRPr lang="en-IN" b="1" dirty="0"/>
          </a:p>
          <a:p>
            <a:pPr marL="114300" indent="0">
              <a:buNone/>
            </a:pPr>
            <a:r>
              <a:rPr lang="en-IN" sz="2000" b="1" dirty="0"/>
              <a:t>Output</a:t>
            </a:r>
            <a:r>
              <a:rPr lang="en-IN" b="1" dirty="0"/>
              <a:t> </a:t>
            </a:r>
          </a:p>
          <a:p>
            <a:pPr marL="114300" indent="0">
              <a:buNone/>
            </a:pPr>
            <a:endParaRPr lang="en-IN" b="1" dirty="0"/>
          </a:p>
          <a:p>
            <a:pPr marL="114300" indent="0">
              <a:buNone/>
            </a:pPr>
            <a:endParaRPr lang="en-IN" b="1" dirty="0"/>
          </a:p>
          <a:p>
            <a:pPr marL="114300" indent="0">
              <a:buNone/>
            </a:pPr>
            <a:endParaRPr lang="en-IN" b="1" dirty="0"/>
          </a:p>
          <a:p>
            <a:pPr lvl="0"/>
            <a:endParaRPr lang="en-US" sz="1900" b="1" dirty="0">
              <a:latin typeface="Times New Roman" panose="02020603050405020304" pitchFamily="18" charset="0"/>
              <a:cs typeface="Times New Roman" panose="02020603050405020304" pitchFamily="18" charset="0"/>
            </a:endParaRPr>
          </a:p>
          <a:p>
            <a:pPr lvl="0"/>
            <a:r>
              <a:rPr lang="en-US" sz="1800" dirty="0">
                <a:latin typeface="Times New Roman" panose="02020603050405020304" pitchFamily="18" charset="0"/>
                <a:cs typeface="Times New Roman" panose="02020603050405020304" pitchFamily="18" charset="0"/>
              </a:rPr>
              <a:t>counts deliveries by status for each delivery zone. </a:t>
            </a:r>
          </a:p>
          <a:p>
            <a:pPr lvl="0"/>
            <a:r>
              <a:rPr lang="en-US" sz="1800" dirty="0">
                <a:latin typeface="Times New Roman" panose="02020603050405020304" pitchFamily="18" charset="0"/>
                <a:cs typeface="Times New Roman" panose="02020603050405020304" pitchFamily="18" charset="0"/>
              </a:rPr>
              <a:t>It helps compare delivery outcomes across zones and identify zones with more successful or problematic deliveries.</a:t>
            </a:r>
          </a:p>
          <a:p>
            <a:pPr marL="114300" indent="0">
              <a:buNone/>
            </a:pPr>
            <a:endParaRPr lang="en-IN" sz="1800" b="1" dirty="0">
              <a:latin typeface="Times New Roman" panose="02020603050405020304" pitchFamily="18" charset="0"/>
              <a:cs typeface="Times New Roman" panose="02020603050405020304" pitchFamily="18" charset="0"/>
            </a:endParaRPr>
          </a:p>
          <a:p>
            <a:pPr marL="114300" indent="0">
              <a:buNone/>
            </a:pPr>
            <a:endParaRPr lang="en-US" dirty="0"/>
          </a:p>
        </p:txBody>
      </p:sp>
      <p:pic>
        <p:nvPicPr>
          <p:cNvPr id="5" name="Picture 4">
            <a:extLst>
              <a:ext uri="{FF2B5EF4-FFF2-40B4-BE49-F238E27FC236}">
                <a16:creationId xmlns:a16="http://schemas.microsoft.com/office/drawing/2014/main" id="{F05FE057-0AC6-9F1E-3B8E-3056A7CF8ED4}"/>
              </a:ext>
            </a:extLst>
          </p:cNvPr>
          <p:cNvPicPr>
            <a:picLocks noChangeAspect="1"/>
          </p:cNvPicPr>
          <p:nvPr/>
        </p:nvPicPr>
        <p:blipFill>
          <a:blip r:embed="rId2"/>
          <a:stretch>
            <a:fillRect/>
          </a:stretch>
        </p:blipFill>
        <p:spPr>
          <a:xfrm>
            <a:off x="948836" y="1420838"/>
            <a:ext cx="9138871" cy="1325563"/>
          </a:xfrm>
          <a:prstGeom prst="rect">
            <a:avLst/>
          </a:prstGeom>
        </p:spPr>
      </p:pic>
      <p:pic>
        <p:nvPicPr>
          <p:cNvPr id="7" name="Picture 6">
            <a:extLst>
              <a:ext uri="{FF2B5EF4-FFF2-40B4-BE49-F238E27FC236}">
                <a16:creationId xmlns:a16="http://schemas.microsoft.com/office/drawing/2014/main" id="{84BD44BF-F03B-CB6B-C2D2-929D1F4D0FB6}"/>
              </a:ext>
            </a:extLst>
          </p:cNvPr>
          <p:cNvPicPr>
            <a:picLocks noChangeAspect="1"/>
          </p:cNvPicPr>
          <p:nvPr/>
        </p:nvPicPr>
        <p:blipFill>
          <a:blip r:embed="rId3"/>
          <a:stretch>
            <a:fillRect/>
          </a:stretch>
        </p:blipFill>
        <p:spPr>
          <a:xfrm>
            <a:off x="2264972" y="2940148"/>
            <a:ext cx="3249564" cy="2147082"/>
          </a:xfrm>
          <a:prstGeom prst="rect">
            <a:avLst/>
          </a:prstGeom>
        </p:spPr>
      </p:pic>
    </p:spTree>
    <p:extLst>
      <p:ext uri="{BB962C8B-B14F-4D97-AF65-F5344CB8AC3E}">
        <p14:creationId xmlns:p14="http://schemas.microsoft.com/office/powerpoint/2010/main" val="32969510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7334B-91BE-6FC2-7E42-A3327739AB78}"/>
              </a:ext>
            </a:extLst>
          </p:cNvPr>
          <p:cNvSpPr>
            <a:spLocks noGrp="1"/>
          </p:cNvSpPr>
          <p:nvPr>
            <p:ph type="title"/>
          </p:nvPr>
        </p:nvSpPr>
        <p:spPr>
          <a:xfrm>
            <a:off x="838200" y="18255"/>
            <a:ext cx="10515600" cy="1008687"/>
          </a:xfrm>
        </p:spPr>
        <p:txBody>
          <a:bodyPr>
            <a:normAutofit/>
          </a:bodyPr>
          <a:lstStyle/>
          <a:p>
            <a:r>
              <a:rPr lang="en-US" sz="2000" b="1" dirty="0">
                <a:latin typeface="Times New Roman" panose="02020603050405020304" pitchFamily="18" charset="0"/>
                <a:cs typeface="Times New Roman" panose="02020603050405020304" pitchFamily="18" charset="0"/>
              </a:rPr>
              <a:t>Examine delivery duration.</a:t>
            </a:r>
          </a:p>
        </p:txBody>
      </p:sp>
      <p:sp>
        <p:nvSpPr>
          <p:cNvPr id="3" name="Text Placeholder 2">
            <a:extLst>
              <a:ext uri="{FF2B5EF4-FFF2-40B4-BE49-F238E27FC236}">
                <a16:creationId xmlns:a16="http://schemas.microsoft.com/office/drawing/2014/main" id="{70AA8449-18C7-C182-ED0D-688AEEA33C6F}"/>
              </a:ext>
            </a:extLst>
          </p:cNvPr>
          <p:cNvSpPr>
            <a:spLocks noGrp="1"/>
          </p:cNvSpPr>
          <p:nvPr>
            <p:ph type="body" idx="1"/>
          </p:nvPr>
        </p:nvSpPr>
        <p:spPr>
          <a:xfrm>
            <a:off x="838200" y="1026942"/>
            <a:ext cx="10515600" cy="5150021"/>
          </a:xfrm>
        </p:spPr>
        <p:txBody>
          <a:bodyPr/>
          <a:lstStyle/>
          <a:p>
            <a:pPr marL="114300" indent="0">
              <a:buNone/>
            </a:pPr>
            <a:endParaRPr lang="en-US" dirty="0"/>
          </a:p>
          <a:p>
            <a:pPr marL="114300" indent="0">
              <a:buNone/>
            </a:pPr>
            <a:endParaRPr lang="en-US" dirty="0"/>
          </a:p>
          <a:p>
            <a:pPr marL="114300" indent="0">
              <a:buNone/>
            </a:pPr>
            <a:r>
              <a:rPr lang="en-IN" sz="2000" b="1" dirty="0"/>
              <a:t>Output </a:t>
            </a:r>
          </a:p>
          <a:p>
            <a:pPr marL="114300" indent="0">
              <a:buNone/>
            </a:pPr>
            <a:endParaRPr lang="en-IN" b="1" dirty="0"/>
          </a:p>
          <a:p>
            <a:pPr marL="114300" indent="0">
              <a:buNone/>
            </a:pPr>
            <a:endParaRPr lang="en-IN" b="1" dirty="0"/>
          </a:p>
          <a:p>
            <a:pPr lvl="0"/>
            <a:r>
              <a:rPr lang="en-US" sz="1800" dirty="0">
                <a:latin typeface="Times New Roman" panose="02020603050405020304" pitchFamily="18" charset="0"/>
                <a:cs typeface="Times New Roman" panose="02020603050405020304" pitchFamily="18" charset="0"/>
              </a:rPr>
              <a:t>calculates the average, longest, and shortest delivery duration. </a:t>
            </a:r>
          </a:p>
          <a:p>
            <a:pPr lvl="0"/>
            <a:r>
              <a:rPr lang="en-US" sz="1800" dirty="0">
                <a:latin typeface="Times New Roman" panose="02020603050405020304" pitchFamily="18" charset="0"/>
                <a:cs typeface="Times New Roman" panose="02020603050405020304" pitchFamily="18" charset="0"/>
              </a:rPr>
              <a:t>It helps evaluate overall delivery speed and identify slow or fast deliveries.</a:t>
            </a:r>
          </a:p>
          <a:p>
            <a:pPr marL="114300" indent="0">
              <a:buNone/>
            </a:pPr>
            <a:endParaRPr lang="en-IN" sz="2400" dirty="0"/>
          </a:p>
          <a:p>
            <a:pPr marL="114300" indent="0">
              <a:buNone/>
            </a:pPr>
            <a:endParaRPr lang="en-US" dirty="0"/>
          </a:p>
        </p:txBody>
      </p:sp>
      <p:pic>
        <p:nvPicPr>
          <p:cNvPr id="5" name="Picture 4">
            <a:extLst>
              <a:ext uri="{FF2B5EF4-FFF2-40B4-BE49-F238E27FC236}">
                <a16:creationId xmlns:a16="http://schemas.microsoft.com/office/drawing/2014/main" id="{BBF9838A-DE8B-01AF-E384-9CFCF213EF62}"/>
              </a:ext>
            </a:extLst>
          </p:cNvPr>
          <p:cNvPicPr>
            <a:picLocks noChangeAspect="1"/>
          </p:cNvPicPr>
          <p:nvPr/>
        </p:nvPicPr>
        <p:blipFill>
          <a:blip r:embed="rId2"/>
          <a:stretch>
            <a:fillRect/>
          </a:stretch>
        </p:blipFill>
        <p:spPr>
          <a:xfrm>
            <a:off x="838201" y="906566"/>
            <a:ext cx="5942428" cy="1008688"/>
          </a:xfrm>
          <a:prstGeom prst="rect">
            <a:avLst/>
          </a:prstGeom>
        </p:spPr>
      </p:pic>
      <p:pic>
        <p:nvPicPr>
          <p:cNvPr id="9" name="Picture 8">
            <a:extLst>
              <a:ext uri="{FF2B5EF4-FFF2-40B4-BE49-F238E27FC236}">
                <a16:creationId xmlns:a16="http://schemas.microsoft.com/office/drawing/2014/main" id="{ABEA30D9-3C0D-6193-9A56-0F9BF405EDCB}"/>
              </a:ext>
            </a:extLst>
          </p:cNvPr>
          <p:cNvPicPr>
            <a:picLocks noChangeAspect="1"/>
          </p:cNvPicPr>
          <p:nvPr/>
        </p:nvPicPr>
        <p:blipFill>
          <a:blip r:embed="rId3"/>
          <a:stretch>
            <a:fillRect/>
          </a:stretch>
        </p:blipFill>
        <p:spPr>
          <a:xfrm>
            <a:off x="2351942" y="2214146"/>
            <a:ext cx="2993782" cy="709795"/>
          </a:xfrm>
          <a:prstGeom prst="rect">
            <a:avLst/>
          </a:prstGeom>
        </p:spPr>
      </p:pic>
    </p:spTree>
    <p:extLst>
      <p:ext uri="{BB962C8B-B14F-4D97-AF65-F5344CB8AC3E}">
        <p14:creationId xmlns:p14="http://schemas.microsoft.com/office/powerpoint/2010/main" val="21830748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369A3-606B-5D2B-EADE-0435225D0A1A}"/>
              </a:ext>
            </a:extLst>
          </p:cNvPr>
          <p:cNvSpPr>
            <a:spLocks noGrp="1"/>
          </p:cNvSpPr>
          <p:nvPr>
            <p:ph type="title"/>
          </p:nvPr>
        </p:nvSpPr>
        <p:spPr/>
        <p:txBody>
          <a:bodyPr>
            <a:normAutofit/>
          </a:bodyPr>
          <a:lstStyle/>
          <a:p>
            <a:r>
              <a:rPr lang="en-US" sz="2000" b="1" dirty="0">
                <a:latin typeface="Times New Roman" panose="02020603050405020304" pitchFamily="18" charset="0"/>
                <a:cs typeface="Times New Roman" panose="02020603050405020304" pitchFamily="18" charset="0"/>
              </a:rPr>
              <a:t>Compare delivery outcomes by status (Delivered, Failed, Pending, Rescheduled) — these are not a simple success/failure split, so consider what each status actually represents.</a:t>
            </a:r>
          </a:p>
        </p:txBody>
      </p:sp>
      <p:sp>
        <p:nvSpPr>
          <p:cNvPr id="3" name="Text Placeholder 2">
            <a:extLst>
              <a:ext uri="{FF2B5EF4-FFF2-40B4-BE49-F238E27FC236}">
                <a16:creationId xmlns:a16="http://schemas.microsoft.com/office/drawing/2014/main" id="{698CE23C-1868-D140-64EC-A64D44BF0A6F}"/>
              </a:ext>
            </a:extLst>
          </p:cNvPr>
          <p:cNvSpPr>
            <a:spLocks noGrp="1"/>
          </p:cNvSpPr>
          <p:nvPr>
            <p:ph type="body" idx="1"/>
          </p:nvPr>
        </p:nvSpPr>
        <p:spPr/>
        <p:txBody>
          <a:bodyPr>
            <a:normAutofit/>
          </a:bodyPr>
          <a:lstStyle/>
          <a:p>
            <a:pPr marL="114300" indent="0">
              <a:buNone/>
            </a:pPr>
            <a:endParaRPr lang="en-US" dirty="0"/>
          </a:p>
          <a:p>
            <a:pPr marL="114300" indent="0">
              <a:buNone/>
            </a:pPr>
            <a:r>
              <a:rPr lang="en-IN" sz="2000" b="1" dirty="0"/>
              <a:t>Output </a:t>
            </a:r>
          </a:p>
          <a:p>
            <a:pPr marL="114300" indent="0">
              <a:buNone/>
            </a:pPr>
            <a:endParaRPr lang="en-IN" b="1" dirty="0"/>
          </a:p>
          <a:p>
            <a:pPr marL="114300" indent="0">
              <a:buNone/>
            </a:pPr>
            <a:endParaRPr lang="en-IN" b="1" dirty="0"/>
          </a:p>
          <a:p>
            <a:pPr lvl="0"/>
            <a:r>
              <a:rPr lang="en-US" sz="1800" dirty="0">
                <a:latin typeface="Times New Roman" panose="02020603050405020304" pitchFamily="18" charset="0"/>
                <a:cs typeface="Times New Roman" panose="02020603050405020304" pitchFamily="18" charset="0"/>
              </a:rPr>
              <a:t>counts deliveries for each status such as Delivered, Failed, Pending, and Rescheduled. </a:t>
            </a:r>
          </a:p>
          <a:p>
            <a:pPr lvl="0"/>
            <a:r>
              <a:rPr lang="en-US" sz="1800" dirty="0">
                <a:latin typeface="Times New Roman" panose="02020603050405020304" pitchFamily="18" charset="0"/>
                <a:cs typeface="Times New Roman" panose="02020603050405020304" pitchFamily="18" charset="0"/>
              </a:rPr>
              <a:t>It helps understand the overall distribution of delivery outcomes, rather than treating them simply as success or failure.</a:t>
            </a:r>
          </a:p>
          <a:p>
            <a:pPr marL="114300" indent="0">
              <a:buNone/>
            </a:pPr>
            <a:endParaRPr lang="en-IN" sz="1800" b="1" dirty="0">
              <a:latin typeface="Times New Roman" panose="02020603050405020304" pitchFamily="18" charset="0"/>
              <a:cs typeface="Times New Roman" panose="02020603050405020304" pitchFamily="18" charset="0"/>
            </a:endParaRPr>
          </a:p>
          <a:p>
            <a:pPr marL="114300" indent="0">
              <a:buNone/>
            </a:pPr>
            <a:endParaRPr lang="en-US" dirty="0"/>
          </a:p>
        </p:txBody>
      </p:sp>
      <p:pic>
        <p:nvPicPr>
          <p:cNvPr id="5" name="Picture 4">
            <a:extLst>
              <a:ext uri="{FF2B5EF4-FFF2-40B4-BE49-F238E27FC236}">
                <a16:creationId xmlns:a16="http://schemas.microsoft.com/office/drawing/2014/main" id="{196A838B-795C-4725-4B6A-5DF921832828}"/>
              </a:ext>
            </a:extLst>
          </p:cNvPr>
          <p:cNvPicPr>
            <a:picLocks noChangeAspect="1"/>
          </p:cNvPicPr>
          <p:nvPr/>
        </p:nvPicPr>
        <p:blipFill>
          <a:blip r:embed="rId2"/>
          <a:stretch>
            <a:fillRect/>
          </a:stretch>
        </p:blipFill>
        <p:spPr>
          <a:xfrm>
            <a:off x="996315" y="1395266"/>
            <a:ext cx="6614308" cy="813362"/>
          </a:xfrm>
          <a:prstGeom prst="rect">
            <a:avLst/>
          </a:prstGeom>
        </p:spPr>
      </p:pic>
      <p:pic>
        <p:nvPicPr>
          <p:cNvPr id="7" name="Picture 6">
            <a:extLst>
              <a:ext uri="{FF2B5EF4-FFF2-40B4-BE49-F238E27FC236}">
                <a16:creationId xmlns:a16="http://schemas.microsoft.com/office/drawing/2014/main" id="{7EC20688-1108-1D0F-9D3B-39FBFDD0C8CF}"/>
              </a:ext>
            </a:extLst>
          </p:cNvPr>
          <p:cNvPicPr>
            <a:picLocks noChangeAspect="1"/>
          </p:cNvPicPr>
          <p:nvPr/>
        </p:nvPicPr>
        <p:blipFill>
          <a:blip r:embed="rId3"/>
          <a:stretch>
            <a:fillRect/>
          </a:stretch>
        </p:blipFill>
        <p:spPr>
          <a:xfrm>
            <a:off x="2298601" y="2343565"/>
            <a:ext cx="2020181" cy="813362"/>
          </a:xfrm>
          <a:prstGeom prst="rect">
            <a:avLst/>
          </a:prstGeom>
        </p:spPr>
      </p:pic>
    </p:spTree>
    <p:extLst>
      <p:ext uri="{BB962C8B-B14F-4D97-AF65-F5344CB8AC3E}">
        <p14:creationId xmlns:p14="http://schemas.microsoft.com/office/powerpoint/2010/main" val="7420582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AED1F-A740-2B59-1027-4E55E0635976}"/>
              </a:ext>
            </a:extLst>
          </p:cNvPr>
          <p:cNvSpPr>
            <a:spLocks noGrp="1"/>
          </p:cNvSpPr>
          <p:nvPr>
            <p:ph type="title"/>
          </p:nvPr>
        </p:nvSpPr>
        <p:spPr>
          <a:xfrm>
            <a:off x="838200" y="154109"/>
            <a:ext cx="10515600" cy="1013509"/>
          </a:xfrm>
        </p:spPr>
        <p:txBody>
          <a:bodyPr>
            <a:normAutofit/>
          </a:bodyPr>
          <a:lstStyle/>
          <a:p>
            <a:r>
              <a:rPr lang="en-US" sz="2000" b="1" dirty="0">
                <a:latin typeface="Times New Roman" panose="02020603050405020304" pitchFamily="18" charset="0"/>
                <a:cs typeface="Times New Roman" panose="02020603050405020304" pitchFamily="18" charset="0"/>
              </a:rPr>
              <a:t>Identify areas with higher delivery activity or poorer outcomes.</a:t>
            </a:r>
          </a:p>
        </p:txBody>
      </p:sp>
      <p:sp>
        <p:nvSpPr>
          <p:cNvPr id="3" name="Text Placeholder 2">
            <a:extLst>
              <a:ext uri="{FF2B5EF4-FFF2-40B4-BE49-F238E27FC236}">
                <a16:creationId xmlns:a16="http://schemas.microsoft.com/office/drawing/2014/main" id="{1DBB682F-E539-9F42-EA76-5F69FA2CAC90}"/>
              </a:ext>
            </a:extLst>
          </p:cNvPr>
          <p:cNvSpPr>
            <a:spLocks noGrp="1"/>
          </p:cNvSpPr>
          <p:nvPr>
            <p:ph type="body" idx="1"/>
          </p:nvPr>
        </p:nvSpPr>
        <p:spPr>
          <a:xfrm>
            <a:off x="838200" y="1167618"/>
            <a:ext cx="10515600" cy="5009345"/>
          </a:xfrm>
        </p:spPr>
        <p:txBody>
          <a:bodyPr/>
          <a:lstStyle/>
          <a:p>
            <a:pPr marL="114300" indent="0">
              <a:buNone/>
            </a:pPr>
            <a:endParaRPr lang="en-US" dirty="0"/>
          </a:p>
          <a:p>
            <a:pPr marL="114300" indent="0">
              <a:buNone/>
            </a:pPr>
            <a:endParaRPr lang="en-US" dirty="0"/>
          </a:p>
          <a:p>
            <a:pPr marL="114300" indent="0">
              <a:buNone/>
            </a:pPr>
            <a:r>
              <a:rPr lang="en-IN" sz="2000" b="1" dirty="0"/>
              <a:t>Output </a:t>
            </a:r>
          </a:p>
          <a:p>
            <a:pPr marL="114300" indent="0">
              <a:buNone/>
            </a:pPr>
            <a:endParaRPr lang="en-IN" b="1" dirty="0"/>
          </a:p>
          <a:p>
            <a:pPr marL="114300" indent="0">
              <a:buNone/>
            </a:pPr>
            <a:endParaRPr lang="en-IN" b="1" dirty="0"/>
          </a:p>
          <a:p>
            <a:pPr marL="114300" indent="0">
              <a:buNone/>
            </a:pPr>
            <a:endParaRPr lang="en-IN" b="1" dirty="0"/>
          </a:p>
          <a:p>
            <a:pPr marL="114300" indent="0">
              <a:buNone/>
            </a:pPr>
            <a:endParaRPr lang="en-IN" b="1" dirty="0"/>
          </a:p>
          <a:p>
            <a:pPr lvl="0"/>
            <a:r>
              <a:rPr lang="en-US" sz="1800" dirty="0"/>
              <a:t>counts deliveries in each delivery zone. </a:t>
            </a:r>
          </a:p>
          <a:p>
            <a:pPr lvl="0"/>
            <a:r>
              <a:rPr lang="en-US" sz="1800" dirty="0"/>
              <a:t>It helps identify zones with higher delivery activity.</a:t>
            </a:r>
          </a:p>
          <a:p>
            <a:pPr marL="114300" indent="0">
              <a:buNone/>
            </a:pPr>
            <a:endParaRPr lang="en-IN" sz="2000" dirty="0">
              <a:latin typeface="Times New Roman" panose="02020603050405020304" pitchFamily="18" charset="0"/>
              <a:cs typeface="Times New Roman" panose="02020603050405020304" pitchFamily="18" charset="0"/>
            </a:endParaRPr>
          </a:p>
          <a:p>
            <a:pPr marL="114300" indent="0">
              <a:buNone/>
            </a:pPr>
            <a:endParaRPr lang="en-US" dirty="0"/>
          </a:p>
        </p:txBody>
      </p:sp>
      <p:pic>
        <p:nvPicPr>
          <p:cNvPr id="9" name="Picture 8">
            <a:extLst>
              <a:ext uri="{FF2B5EF4-FFF2-40B4-BE49-F238E27FC236}">
                <a16:creationId xmlns:a16="http://schemas.microsoft.com/office/drawing/2014/main" id="{EEB66AC6-F4E0-0D7F-8276-EFE017FB1DEC}"/>
              </a:ext>
            </a:extLst>
          </p:cNvPr>
          <p:cNvPicPr>
            <a:picLocks noChangeAspect="1"/>
          </p:cNvPicPr>
          <p:nvPr/>
        </p:nvPicPr>
        <p:blipFill>
          <a:blip r:embed="rId2"/>
          <a:stretch>
            <a:fillRect/>
          </a:stretch>
        </p:blipFill>
        <p:spPr>
          <a:xfrm>
            <a:off x="938432" y="981846"/>
            <a:ext cx="8191500" cy="1199282"/>
          </a:xfrm>
          <a:prstGeom prst="rect">
            <a:avLst/>
          </a:prstGeom>
        </p:spPr>
      </p:pic>
      <p:pic>
        <p:nvPicPr>
          <p:cNvPr id="11" name="Picture 10">
            <a:extLst>
              <a:ext uri="{FF2B5EF4-FFF2-40B4-BE49-F238E27FC236}">
                <a16:creationId xmlns:a16="http://schemas.microsoft.com/office/drawing/2014/main" id="{D6ECFB81-D55C-A7D6-BC44-7929DE907E78}"/>
              </a:ext>
            </a:extLst>
          </p:cNvPr>
          <p:cNvPicPr>
            <a:picLocks noChangeAspect="1"/>
          </p:cNvPicPr>
          <p:nvPr/>
        </p:nvPicPr>
        <p:blipFill>
          <a:blip r:embed="rId3"/>
          <a:stretch>
            <a:fillRect/>
          </a:stretch>
        </p:blipFill>
        <p:spPr>
          <a:xfrm>
            <a:off x="2288346" y="2366900"/>
            <a:ext cx="2311789" cy="1965949"/>
          </a:xfrm>
          <a:prstGeom prst="rect">
            <a:avLst/>
          </a:prstGeom>
        </p:spPr>
      </p:pic>
    </p:spTree>
    <p:extLst>
      <p:ext uri="{BB962C8B-B14F-4D97-AF65-F5344CB8AC3E}">
        <p14:creationId xmlns:p14="http://schemas.microsoft.com/office/powerpoint/2010/main" val="26635256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8CA1A-631F-815E-98A1-94AAD0D49156}"/>
              </a:ext>
            </a:extLst>
          </p:cNvPr>
          <p:cNvSpPr>
            <a:spLocks noGrp="1"/>
          </p:cNvSpPr>
          <p:nvPr>
            <p:ph type="title"/>
          </p:nvPr>
        </p:nvSpPr>
        <p:spPr>
          <a:xfrm>
            <a:off x="838200" y="365125"/>
            <a:ext cx="10515600" cy="802493"/>
          </a:xfrm>
        </p:spPr>
        <p:txBody>
          <a:bodyPr>
            <a:normAutofit/>
          </a:bodyPr>
          <a:lstStyle/>
          <a:p>
            <a:r>
              <a:rPr lang="en-US" sz="2000" b="1" dirty="0">
                <a:latin typeface="Times New Roman" panose="02020603050405020304" pitchFamily="18" charset="0"/>
                <a:cs typeface="Times New Roman" panose="02020603050405020304" pitchFamily="18" charset="0"/>
              </a:rPr>
              <a:t>Compare delivery performance over time.</a:t>
            </a:r>
          </a:p>
        </p:txBody>
      </p:sp>
      <p:sp>
        <p:nvSpPr>
          <p:cNvPr id="3" name="Text Placeholder 2">
            <a:extLst>
              <a:ext uri="{FF2B5EF4-FFF2-40B4-BE49-F238E27FC236}">
                <a16:creationId xmlns:a16="http://schemas.microsoft.com/office/drawing/2014/main" id="{ABE77097-486C-0371-2B50-62204FD54795}"/>
              </a:ext>
            </a:extLst>
          </p:cNvPr>
          <p:cNvSpPr>
            <a:spLocks noGrp="1"/>
          </p:cNvSpPr>
          <p:nvPr>
            <p:ph type="body" idx="1"/>
          </p:nvPr>
        </p:nvSpPr>
        <p:spPr>
          <a:xfrm>
            <a:off x="838200" y="1167618"/>
            <a:ext cx="10515600" cy="5009345"/>
          </a:xfrm>
        </p:spPr>
        <p:txBody>
          <a:bodyPr/>
          <a:lstStyle/>
          <a:p>
            <a:pPr marL="114300" indent="0">
              <a:buNone/>
            </a:pPr>
            <a:endParaRPr lang="en-US" dirty="0"/>
          </a:p>
          <a:p>
            <a:pPr marL="114300" indent="0">
              <a:buNone/>
            </a:pPr>
            <a:endParaRPr lang="en-US" dirty="0"/>
          </a:p>
          <a:p>
            <a:pPr marL="114300" indent="0">
              <a:buNone/>
            </a:pPr>
            <a:endParaRPr lang="en-IN" b="1" dirty="0"/>
          </a:p>
          <a:p>
            <a:pPr marL="114300" indent="0">
              <a:buNone/>
            </a:pPr>
            <a:r>
              <a:rPr lang="en-IN" sz="2000" b="1" dirty="0"/>
              <a:t>Output </a:t>
            </a:r>
            <a:endParaRPr lang="en-IN" b="1" dirty="0"/>
          </a:p>
          <a:p>
            <a:pPr marL="114300" indent="0">
              <a:buNone/>
            </a:pPr>
            <a:endParaRPr lang="en-IN" b="1" dirty="0"/>
          </a:p>
          <a:p>
            <a:pPr marL="114300" indent="0">
              <a:buNone/>
            </a:pPr>
            <a:endParaRPr lang="en-IN" b="1" dirty="0"/>
          </a:p>
          <a:p>
            <a:pPr lvl="0"/>
            <a:r>
              <a:rPr lang="en-US" sz="1800" dirty="0"/>
              <a:t>counts deliveries for each month and year. </a:t>
            </a:r>
          </a:p>
          <a:p>
            <a:pPr lvl="0"/>
            <a:r>
              <a:rPr lang="en-US" sz="1800" dirty="0"/>
              <a:t>It helps compare delivery activity and performance trends over time. </a:t>
            </a:r>
          </a:p>
          <a:p>
            <a:pPr marL="114300" indent="0">
              <a:buNone/>
            </a:pPr>
            <a:endParaRPr lang="en-IN" sz="2000" dirty="0">
              <a:latin typeface="Times New Roman" panose="02020603050405020304" pitchFamily="18" charset="0"/>
              <a:cs typeface="Times New Roman" panose="02020603050405020304" pitchFamily="18" charset="0"/>
            </a:endParaRPr>
          </a:p>
          <a:p>
            <a:pPr marL="114300" indent="0">
              <a:buNone/>
            </a:pPr>
            <a:endParaRPr lang="en-US" dirty="0"/>
          </a:p>
        </p:txBody>
      </p:sp>
      <p:pic>
        <p:nvPicPr>
          <p:cNvPr id="5" name="Picture 4">
            <a:extLst>
              <a:ext uri="{FF2B5EF4-FFF2-40B4-BE49-F238E27FC236}">
                <a16:creationId xmlns:a16="http://schemas.microsoft.com/office/drawing/2014/main" id="{76297767-9F12-ED28-B6E0-C1F136B5FAA3}"/>
              </a:ext>
            </a:extLst>
          </p:cNvPr>
          <p:cNvPicPr>
            <a:picLocks noChangeAspect="1"/>
          </p:cNvPicPr>
          <p:nvPr/>
        </p:nvPicPr>
        <p:blipFill>
          <a:blip r:embed="rId2"/>
          <a:stretch>
            <a:fillRect/>
          </a:stretch>
        </p:blipFill>
        <p:spPr>
          <a:xfrm>
            <a:off x="838200" y="1161219"/>
            <a:ext cx="8727831" cy="1258424"/>
          </a:xfrm>
          <a:prstGeom prst="rect">
            <a:avLst/>
          </a:prstGeom>
        </p:spPr>
      </p:pic>
      <p:pic>
        <p:nvPicPr>
          <p:cNvPr id="7" name="Picture 6">
            <a:extLst>
              <a:ext uri="{FF2B5EF4-FFF2-40B4-BE49-F238E27FC236}">
                <a16:creationId xmlns:a16="http://schemas.microsoft.com/office/drawing/2014/main" id="{BD83249C-1828-B8A9-16C7-ED68D44C4105}"/>
              </a:ext>
            </a:extLst>
          </p:cNvPr>
          <p:cNvPicPr>
            <a:picLocks noChangeAspect="1"/>
          </p:cNvPicPr>
          <p:nvPr/>
        </p:nvPicPr>
        <p:blipFill>
          <a:blip r:embed="rId3"/>
          <a:stretch>
            <a:fillRect/>
          </a:stretch>
        </p:blipFill>
        <p:spPr>
          <a:xfrm>
            <a:off x="2349890" y="2588455"/>
            <a:ext cx="2376855" cy="1448974"/>
          </a:xfrm>
          <a:prstGeom prst="rect">
            <a:avLst/>
          </a:prstGeom>
        </p:spPr>
      </p:pic>
    </p:spTree>
    <p:extLst>
      <p:ext uri="{BB962C8B-B14F-4D97-AF65-F5344CB8AC3E}">
        <p14:creationId xmlns:p14="http://schemas.microsoft.com/office/powerpoint/2010/main" val="34873735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BD9EB-D80E-8871-2279-54F226B106AB}"/>
              </a:ext>
            </a:extLst>
          </p:cNvPr>
          <p:cNvSpPr>
            <a:spLocks noGrp="1"/>
          </p:cNvSpPr>
          <p:nvPr>
            <p:ph type="title"/>
          </p:nvPr>
        </p:nvSpPr>
        <p:spPr>
          <a:xfrm>
            <a:off x="838200" y="140043"/>
            <a:ext cx="10515600" cy="746222"/>
          </a:xfrm>
        </p:spPr>
        <p:txBody>
          <a:bodyPr>
            <a:normAutofit/>
          </a:bodyPr>
          <a:lstStyle/>
          <a:p>
            <a:r>
              <a:rPr lang="en-US" sz="2000" b="1" dirty="0">
                <a:latin typeface="Times New Roman" panose="02020603050405020304" pitchFamily="18" charset="0"/>
                <a:cs typeface="Times New Roman" panose="02020603050405020304" pitchFamily="18" charset="0"/>
              </a:rPr>
              <a:t>Compare the number of deliveries handled by drivers.</a:t>
            </a:r>
          </a:p>
        </p:txBody>
      </p:sp>
      <p:sp>
        <p:nvSpPr>
          <p:cNvPr id="3" name="Text Placeholder 2">
            <a:extLst>
              <a:ext uri="{FF2B5EF4-FFF2-40B4-BE49-F238E27FC236}">
                <a16:creationId xmlns:a16="http://schemas.microsoft.com/office/drawing/2014/main" id="{C0298DD5-DC58-A81F-0A6D-2D4F67BC8CD1}"/>
              </a:ext>
            </a:extLst>
          </p:cNvPr>
          <p:cNvSpPr>
            <a:spLocks noGrp="1"/>
          </p:cNvSpPr>
          <p:nvPr>
            <p:ph type="body" idx="1"/>
          </p:nvPr>
        </p:nvSpPr>
        <p:spPr>
          <a:xfrm>
            <a:off x="838200" y="1055077"/>
            <a:ext cx="10515600" cy="5121886"/>
          </a:xfrm>
        </p:spPr>
        <p:txBody>
          <a:bodyPr/>
          <a:lstStyle/>
          <a:p>
            <a:pPr marL="114300" indent="0">
              <a:buNone/>
            </a:pPr>
            <a:endParaRPr lang="en-US" dirty="0"/>
          </a:p>
          <a:p>
            <a:pPr marL="114300" indent="0">
              <a:buNone/>
            </a:pPr>
            <a:endParaRPr lang="en-US" dirty="0"/>
          </a:p>
          <a:p>
            <a:pPr marL="114300" indent="0">
              <a:buNone/>
            </a:pPr>
            <a:r>
              <a:rPr lang="en-IN" sz="2000" b="1" dirty="0"/>
              <a:t>Output </a:t>
            </a:r>
          </a:p>
          <a:p>
            <a:pPr marL="114300" indent="0">
              <a:buNone/>
            </a:pPr>
            <a:endParaRPr lang="en-IN" b="1" dirty="0"/>
          </a:p>
          <a:p>
            <a:pPr marL="114300" indent="0">
              <a:buNone/>
            </a:pPr>
            <a:endParaRPr lang="en-IN" b="1" dirty="0"/>
          </a:p>
          <a:p>
            <a:pPr marL="114300" indent="0">
              <a:buNone/>
            </a:pPr>
            <a:endParaRPr lang="en-IN" b="1" dirty="0"/>
          </a:p>
          <a:p>
            <a:pPr marL="114300" indent="0">
              <a:buNone/>
            </a:pPr>
            <a:endParaRPr lang="en-IN" b="1" dirty="0"/>
          </a:p>
          <a:p>
            <a:pPr lvl="0"/>
            <a:r>
              <a:rPr lang="en-US" sz="1800" dirty="0"/>
              <a:t>counts the number of deliveries handled by each driver. </a:t>
            </a:r>
          </a:p>
          <a:p>
            <a:pPr lvl="0"/>
            <a:r>
              <a:rPr lang="en-US" sz="1800" dirty="0"/>
              <a:t>It helps compare driver workload and identify drivers handling more deliveries. </a:t>
            </a:r>
          </a:p>
          <a:p>
            <a:pPr marL="114300" indent="0">
              <a:buNone/>
            </a:pPr>
            <a:endParaRPr lang="en-IN" sz="1800" dirty="0">
              <a:latin typeface="Times New Roman" panose="02020603050405020304" pitchFamily="18" charset="0"/>
              <a:cs typeface="Times New Roman" panose="02020603050405020304" pitchFamily="18" charset="0"/>
            </a:endParaRPr>
          </a:p>
          <a:p>
            <a:pPr marL="114300" indent="0">
              <a:buNone/>
            </a:pPr>
            <a:endParaRPr lang="en-US" dirty="0"/>
          </a:p>
        </p:txBody>
      </p:sp>
      <p:pic>
        <p:nvPicPr>
          <p:cNvPr id="5" name="Picture 4">
            <a:extLst>
              <a:ext uri="{FF2B5EF4-FFF2-40B4-BE49-F238E27FC236}">
                <a16:creationId xmlns:a16="http://schemas.microsoft.com/office/drawing/2014/main" id="{7D10FF1E-B518-53CE-8181-EEC301180854}"/>
              </a:ext>
            </a:extLst>
          </p:cNvPr>
          <p:cNvPicPr>
            <a:picLocks noChangeAspect="1"/>
          </p:cNvPicPr>
          <p:nvPr/>
        </p:nvPicPr>
        <p:blipFill>
          <a:blip r:embed="rId2"/>
          <a:stretch>
            <a:fillRect/>
          </a:stretch>
        </p:blipFill>
        <p:spPr>
          <a:xfrm>
            <a:off x="839188" y="1055077"/>
            <a:ext cx="8375150" cy="746222"/>
          </a:xfrm>
          <a:prstGeom prst="rect">
            <a:avLst/>
          </a:prstGeom>
        </p:spPr>
      </p:pic>
      <p:pic>
        <p:nvPicPr>
          <p:cNvPr id="7" name="Picture 6">
            <a:extLst>
              <a:ext uri="{FF2B5EF4-FFF2-40B4-BE49-F238E27FC236}">
                <a16:creationId xmlns:a16="http://schemas.microsoft.com/office/drawing/2014/main" id="{2ED2BC19-7800-BEBB-893E-81925335FF45}"/>
              </a:ext>
            </a:extLst>
          </p:cNvPr>
          <p:cNvPicPr>
            <a:picLocks noChangeAspect="1"/>
          </p:cNvPicPr>
          <p:nvPr/>
        </p:nvPicPr>
        <p:blipFill>
          <a:blip r:embed="rId3"/>
          <a:stretch>
            <a:fillRect/>
          </a:stretch>
        </p:blipFill>
        <p:spPr>
          <a:xfrm>
            <a:off x="2258944" y="2096086"/>
            <a:ext cx="2102041" cy="1955409"/>
          </a:xfrm>
          <a:prstGeom prst="rect">
            <a:avLst/>
          </a:prstGeom>
        </p:spPr>
      </p:pic>
    </p:spTree>
    <p:extLst>
      <p:ext uri="{BB962C8B-B14F-4D97-AF65-F5344CB8AC3E}">
        <p14:creationId xmlns:p14="http://schemas.microsoft.com/office/powerpoint/2010/main" val="39650784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1A124-D4CE-2EF2-4F70-DC21BB2707B3}"/>
              </a:ext>
            </a:extLst>
          </p:cNvPr>
          <p:cNvSpPr>
            <a:spLocks noGrp="1"/>
          </p:cNvSpPr>
          <p:nvPr>
            <p:ph type="title"/>
          </p:nvPr>
        </p:nvSpPr>
        <p:spPr>
          <a:xfrm>
            <a:off x="838200" y="168178"/>
            <a:ext cx="10515600" cy="774358"/>
          </a:xfrm>
        </p:spPr>
        <p:txBody>
          <a:bodyPr>
            <a:normAutofit/>
          </a:bodyPr>
          <a:lstStyle/>
          <a:p>
            <a:r>
              <a:rPr lang="en-US" sz="2000" b="1" dirty="0">
                <a:latin typeface="Times New Roman" panose="02020603050405020304" pitchFamily="18" charset="0"/>
                <a:cs typeface="Times New Roman" panose="02020603050405020304" pitchFamily="18" charset="0"/>
              </a:rPr>
              <a:t>Compare driver performance across delivery outcomes.</a:t>
            </a:r>
          </a:p>
        </p:txBody>
      </p:sp>
      <p:sp>
        <p:nvSpPr>
          <p:cNvPr id="3" name="Text Placeholder 2">
            <a:extLst>
              <a:ext uri="{FF2B5EF4-FFF2-40B4-BE49-F238E27FC236}">
                <a16:creationId xmlns:a16="http://schemas.microsoft.com/office/drawing/2014/main" id="{42318CE1-A0DB-D292-00A0-02E2658D8A89}"/>
              </a:ext>
            </a:extLst>
          </p:cNvPr>
          <p:cNvSpPr>
            <a:spLocks noGrp="1"/>
          </p:cNvSpPr>
          <p:nvPr>
            <p:ph type="body" idx="1"/>
          </p:nvPr>
        </p:nvSpPr>
        <p:spPr>
          <a:xfrm>
            <a:off x="725658" y="1051267"/>
            <a:ext cx="10515600" cy="4955638"/>
          </a:xfrm>
        </p:spPr>
        <p:txBody>
          <a:bodyPr>
            <a:normAutofit/>
          </a:bodyPr>
          <a:lstStyle/>
          <a:p>
            <a:pPr marL="114300" indent="0">
              <a:buNone/>
            </a:pPr>
            <a:endParaRPr lang="en-US" dirty="0"/>
          </a:p>
          <a:p>
            <a:pPr marL="114300" indent="0">
              <a:buNone/>
            </a:pPr>
            <a:endParaRPr lang="en-US" dirty="0"/>
          </a:p>
          <a:p>
            <a:pPr marL="114300" indent="0">
              <a:buNone/>
            </a:pPr>
            <a:endParaRPr lang="en-IN" sz="2000" b="1" dirty="0"/>
          </a:p>
          <a:p>
            <a:pPr marL="114300" indent="0">
              <a:buNone/>
            </a:pPr>
            <a:r>
              <a:rPr lang="en-IN" sz="2000" b="1" dirty="0"/>
              <a:t>Output </a:t>
            </a:r>
          </a:p>
          <a:p>
            <a:pPr marL="114300" indent="0">
              <a:buNone/>
            </a:pPr>
            <a:endParaRPr lang="en-IN" b="1" dirty="0"/>
          </a:p>
          <a:p>
            <a:pPr marL="114300" indent="0">
              <a:buNone/>
            </a:pPr>
            <a:endParaRPr lang="en-IN" b="1" dirty="0"/>
          </a:p>
          <a:p>
            <a:pPr marL="114300" indent="0">
              <a:buNone/>
            </a:pPr>
            <a:endParaRPr lang="en-IN" b="1" dirty="0"/>
          </a:p>
          <a:p>
            <a:pPr marL="114300" indent="0">
              <a:buNone/>
            </a:pPr>
            <a:endParaRPr lang="en-IN" b="1" dirty="0"/>
          </a:p>
          <a:p>
            <a:pPr lvl="0"/>
            <a:r>
              <a:rPr lang="en-US" sz="1800" dirty="0"/>
              <a:t>counts each driver's deliveries by outcome/status. </a:t>
            </a:r>
          </a:p>
          <a:p>
            <a:pPr lvl="0"/>
            <a:r>
              <a:rPr lang="en-US" sz="1800" dirty="0"/>
              <a:t>It helps compare driver performance across Delivered, Failed, Pending, and Rescheduled deliveries.</a:t>
            </a:r>
          </a:p>
          <a:p>
            <a:pPr marL="114300" indent="0">
              <a:buNone/>
            </a:pPr>
            <a:endParaRPr lang="en-IN" sz="1800" dirty="0">
              <a:latin typeface="Times New Roman" panose="02020603050405020304" pitchFamily="18" charset="0"/>
              <a:cs typeface="Times New Roman" panose="02020603050405020304" pitchFamily="18" charset="0"/>
            </a:endParaRPr>
          </a:p>
          <a:p>
            <a:pPr marL="114300" indent="0">
              <a:buNone/>
            </a:pPr>
            <a:endParaRPr lang="en-US" dirty="0"/>
          </a:p>
        </p:txBody>
      </p:sp>
      <p:pic>
        <p:nvPicPr>
          <p:cNvPr id="5" name="Picture 4">
            <a:extLst>
              <a:ext uri="{FF2B5EF4-FFF2-40B4-BE49-F238E27FC236}">
                <a16:creationId xmlns:a16="http://schemas.microsoft.com/office/drawing/2014/main" id="{847AD1A3-C5FF-A61A-EBF2-DC0AF1BCEAAC}"/>
              </a:ext>
            </a:extLst>
          </p:cNvPr>
          <p:cNvPicPr>
            <a:picLocks noChangeAspect="1"/>
          </p:cNvPicPr>
          <p:nvPr/>
        </p:nvPicPr>
        <p:blipFill>
          <a:blip r:embed="rId2"/>
          <a:stretch>
            <a:fillRect/>
          </a:stretch>
        </p:blipFill>
        <p:spPr>
          <a:xfrm>
            <a:off x="950742" y="942536"/>
            <a:ext cx="8362070" cy="1153549"/>
          </a:xfrm>
          <a:prstGeom prst="rect">
            <a:avLst/>
          </a:prstGeom>
        </p:spPr>
      </p:pic>
      <p:pic>
        <p:nvPicPr>
          <p:cNvPr id="7" name="Picture 6">
            <a:extLst>
              <a:ext uri="{FF2B5EF4-FFF2-40B4-BE49-F238E27FC236}">
                <a16:creationId xmlns:a16="http://schemas.microsoft.com/office/drawing/2014/main" id="{91C29DD9-63CF-669F-0C73-1B6014F0A625}"/>
              </a:ext>
            </a:extLst>
          </p:cNvPr>
          <p:cNvPicPr>
            <a:picLocks noChangeAspect="1"/>
          </p:cNvPicPr>
          <p:nvPr/>
        </p:nvPicPr>
        <p:blipFill>
          <a:blip r:embed="rId3"/>
          <a:stretch>
            <a:fillRect/>
          </a:stretch>
        </p:blipFill>
        <p:spPr>
          <a:xfrm>
            <a:off x="2161663" y="2363371"/>
            <a:ext cx="2354067" cy="2131258"/>
          </a:xfrm>
          <a:prstGeom prst="rect">
            <a:avLst/>
          </a:prstGeom>
        </p:spPr>
      </p:pic>
    </p:spTree>
    <p:extLst>
      <p:ext uri="{BB962C8B-B14F-4D97-AF65-F5344CB8AC3E}">
        <p14:creationId xmlns:p14="http://schemas.microsoft.com/office/powerpoint/2010/main" val="1814378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BD2D6-1C6F-55F5-AF46-8DF0EDC20C7C}"/>
              </a:ext>
            </a:extLst>
          </p:cNvPr>
          <p:cNvSpPr>
            <a:spLocks noGrp="1"/>
          </p:cNvSpPr>
          <p:nvPr>
            <p:ph type="title"/>
          </p:nvPr>
        </p:nvSpPr>
        <p:spPr>
          <a:xfrm>
            <a:off x="838200" y="125975"/>
            <a:ext cx="10515600" cy="675883"/>
          </a:xfrm>
        </p:spPr>
        <p:txBody>
          <a:bodyPr>
            <a:normAutofit/>
          </a:bodyPr>
          <a:lstStyle/>
          <a:p>
            <a:r>
              <a:rPr lang="en-US" sz="2400" b="1"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Examine delivery duration across drivers.</a:t>
            </a:r>
            <a:endParaRPr lang="en-US" sz="24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C97A5D85-D82C-7245-854E-CEBA7E1630C3}"/>
              </a:ext>
            </a:extLst>
          </p:cNvPr>
          <p:cNvSpPr>
            <a:spLocks noGrp="1"/>
          </p:cNvSpPr>
          <p:nvPr>
            <p:ph type="body" idx="1"/>
          </p:nvPr>
        </p:nvSpPr>
        <p:spPr>
          <a:xfrm>
            <a:off x="838200" y="956603"/>
            <a:ext cx="10515600" cy="5220360"/>
          </a:xfrm>
        </p:spPr>
        <p:txBody>
          <a:bodyPr>
            <a:normAutofit fontScale="25000" lnSpcReduction="20000"/>
          </a:bodyPr>
          <a:lstStyle/>
          <a:p>
            <a:pPr marL="114300" indent="0">
              <a:buNone/>
            </a:pPr>
            <a:endParaRPr lang="en-IN" b="1" dirty="0"/>
          </a:p>
          <a:p>
            <a:pPr marL="114300" indent="0">
              <a:buNone/>
            </a:pPr>
            <a:endParaRPr lang="en-IN" b="1" dirty="0"/>
          </a:p>
          <a:p>
            <a:pPr marL="114300" indent="0">
              <a:buNone/>
            </a:pPr>
            <a:endParaRPr lang="en-IN" b="1" dirty="0"/>
          </a:p>
          <a:p>
            <a:pPr marL="114300" indent="0">
              <a:buNone/>
            </a:pPr>
            <a:endParaRPr lang="en-IN" sz="11200" b="1" dirty="0"/>
          </a:p>
          <a:p>
            <a:pPr marL="114300" indent="0">
              <a:buNone/>
            </a:pPr>
            <a:endParaRPr lang="en-IN" sz="11200" b="1" dirty="0"/>
          </a:p>
          <a:p>
            <a:pPr marL="114300" indent="0">
              <a:buNone/>
            </a:pPr>
            <a:endParaRPr lang="en-IN" sz="11200" b="1" dirty="0"/>
          </a:p>
          <a:p>
            <a:pPr marL="114300" indent="0">
              <a:buNone/>
            </a:pPr>
            <a:r>
              <a:rPr lang="en-IN" sz="8000" b="1" dirty="0"/>
              <a:t>Output </a:t>
            </a:r>
          </a:p>
          <a:p>
            <a:pPr marL="114300" indent="0">
              <a:buNone/>
            </a:pPr>
            <a:endParaRPr lang="en-IN" b="1" dirty="0"/>
          </a:p>
          <a:p>
            <a:pPr marL="114300" indent="0">
              <a:buNone/>
            </a:pPr>
            <a:endParaRPr lang="en-IN" b="1" dirty="0"/>
          </a:p>
          <a:p>
            <a:pPr marL="114300" indent="0">
              <a:buNone/>
            </a:pPr>
            <a:endParaRPr lang="en-IN" b="1" dirty="0"/>
          </a:p>
          <a:p>
            <a:pPr marL="114300" indent="0">
              <a:buNone/>
            </a:pPr>
            <a:endParaRPr lang="en-IN" b="1" dirty="0"/>
          </a:p>
          <a:p>
            <a:pPr marL="114300" indent="0">
              <a:buNone/>
            </a:pPr>
            <a:endParaRPr lang="en-IN" b="1" dirty="0"/>
          </a:p>
          <a:p>
            <a:pPr marL="114300" indent="0">
              <a:buNone/>
            </a:pPr>
            <a:endParaRPr lang="en-IN" b="1" dirty="0"/>
          </a:p>
          <a:p>
            <a:pPr marL="114300" lvl="0" indent="0">
              <a:buNone/>
            </a:pPr>
            <a:endParaRPr lang="en-US" dirty="0"/>
          </a:p>
          <a:p>
            <a:pPr lvl="0"/>
            <a:r>
              <a:rPr lang="en-US" sz="7200" dirty="0">
                <a:latin typeface="Times New Roman" panose="02020603050405020304" pitchFamily="18" charset="0"/>
                <a:cs typeface="Times New Roman" panose="02020603050405020304" pitchFamily="18" charset="0"/>
              </a:rPr>
              <a:t>calculates the average delivery duration for each driver. </a:t>
            </a:r>
          </a:p>
          <a:p>
            <a:pPr lvl="0"/>
            <a:r>
              <a:rPr lang="en-US" sz="7200" dirty="0">
                <a:latin typeface="Times New Roman" panose="02020603050405020304" pitchFamily="18" charset="0"/>
                <a:cs typeface="Times New Roman" panose="02020603050405020304" pitchFamily="18" charset="0"/>
              </a:rPr>
              <a:t>It helps compare driver delivery speed and identify faster or slower drivers.</a:t>
            </a:r>
          </a:p>
          <a:p>
            <a:pPr marL="114300" indent="0">
              <a:buNone/>
            </a:pPr>
            <a:endParaRPr lang="en-IN" sz="7200" b="1" dirty="0">
              <a:latin typeface="Times New Roman" panose="02020603050405020304" pitchFamily="18" charset="0"/>
              <a:cs typeface="Times New Roman" panose="02020603050405020304" pitchFamily="18" charset="0"/>
            </a:endParaRPr>
          </a:p>
          <a:p>
            <a:pPr marL="114300" indent="0">
              <a:buNone/>
            </a:pPr>
            <a:r>
              <a:rPr lang="en-IN" sz="7200" b="1" dirty="0">
                <a:latin typeface="Times New Roman" panose="02020603050405020304" pitchFamily="18" charset="0"/>
                <a:cs typeface="Times New Roman" panose="02020603050405020304" pitchFamily="18" charset="0"/>
              </a:rPr>
              <a:t> </a:t>
            </a:r>
          </a:p>
          <a:p>
            <a:pPr marL="114300" indent="0">
              <a:buNone/>
            </a:pPr>
            <a:endParaRPr lang="en-IN" b="1" dirty="0"/>
          </a:p>
          <a:p>
            <a:pPr marL="114300" indent="0">
              <a:buNone/>
            </a:pPr>
            <a:endParaRPr lang="en-US" dirty="0"/>
          </a:p>
        </p:txBody>
      </p:sp>
      <p:pic>
        <p:nvPicPr>
          <p:cNvPr id="5" name="Picture 4">
            <a:extLst>
              <a:ext uri="{FF2B5EF4-FFF2-40B4-BE49-F238E27FC236}">
                <a16:creationId xmlns:a16="http://schemas.microsoft.com/office/drawing/2014/main" id="{5F6C5C36-7FF9-A506-64A1-2223A07F0632}"/>
              </a:ext>
            </a:extLst>
          </p:cNvPr>
          <p:cNvPicPr>
            <a:picLocks noChangeAspect="1"/>
          </p:cNvPicPr>
          <p:nvPr/>
        </p:nvPicPr>
        <p:blipFill>
          <a:blip r:embed="rId2"/>
          <a:stretch>
            <a:fillRect/>
          </a:stretch>
        </p:blipFill>
        <p:spPr>
          <a:xfrm>
            <a:off x="1009063" y="801857"/>
            <a:ext cx="7473755" cy="1518288"/>
          </a:xfrm>
          <a:prstGeom prst="rect">
            <a:avLst/>
          </a:prstGeom>
        </p:spPr>
      </p:pic>
      <p:pic>
        <p:nvPicPr>
          <p:cNvPr id="7" name="Picture 6">
            <a:extLst>
              <a:ext uri="{FF2B5EF4-FFF2-40B4-BE49-F238E27FC236}">
                <a16:creationId xmlns:a16="http://schemas.microsoft.com/office/drawing/2014/main" id="{318B83F5-9A9F-D9EC-230F-E6305F3AA19B}"/>
              </a:ext>
            </a:extLst>
          </p:cNvPr>
          <p:cNvPicPr>
            <a:picLocks noChangeAspect="1"/>
          </p:cNvPicPr>
          <p:nvPr/>
        </p:nvPicPr>
        <p:blipFill>
          <a:blip r:embed="rId3"/>
          <a:stretch>
            <a:fillRect/>
          </a:stretch>
        </p:blipFill>
        <p:spPr>
          <a:xfrm>
            <a:off x="1952770" y="2474890"/>
            <a:ext cx="2793170" cy="1707977"/>
          </a:xfrm>
          <a:prstGeom prst="rect">
            <a:avLst/>
          </a:prstGeom>
        </p:spPr>
      </p:pic>
    </p:spTree>
    <p:extLst>
      <p:ext uri="{BB962C8B-B14F-4D97-AF65-F5344CB8AC3E}">
        <p14:creationId xmlns:p14="http://schemas.microsoft.com/office/powerpoint/2010/main" val="11025608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E1CF5-545A-E1F0-427F-7021CEFC93AE}"/>
              </a:ext>
            </a:extLst>
          </p:cNvPr>
          <p:cNvSpPr>
            <a:spLocks noGrp="1"/>
          </p:cNvSpPr>
          <p:nvPr>
            <p:ph type="title"/>
          </p:nvPr>
        </p:nvSpPr>
        <p:spPr>
          <a:xfrm>
            <a:off x="838200" y="125975"/>
            <a:ext cx="10515600" cy="774358"/>
          </a:xfrm>
        </p:spPr>
        <p:txBody>
          <a:bodyPr>
            <a:normAutofit/>
          </a:bodyPr>
          <a:lstStyle/>
          <a:p>
            <a:r>
              <a:rPr lang="en-US" sz="2000" b="1" dirty="0">
                <a:latin typeface="Times New Roman" panose="02020603050405020304" pitchFamily="18" charset="0"/>
                <a:cs typeface="Times New Roman" panose="02020603050405020304" pitchFamily="18" charset="0"/>
              </a:rPr>
              <a:t>Compare vehicle usage across different vehicle types.</a:t>
            </a:r>
          </a:p>
        </p:txBody>
      </p:sp>
      <p:sp>
        <p:nvSpPr>
          <p:cNvPr id="3" name="Text Placeholder 2">
            <a:extLst>
              <a:ext uri="{FF2B5EF4-FFF2-40B4-BE49-F238E27FC236}">
                <a16:creationId xmlns:a16="http://schemas.microsoft.com/office/drawing/2014/main" id="{681B6498-C93D-AE58-DE45-27E9B257E5DB}"/>
              </a:ext>
            </a:extLst>
          </p:cNvPr>
          <p:cNvSpPr>
            <a:spLocks noGrp="1"/>
          </p:cNvSpPr>
          <p:nvPr>
            <p:ph type="body" idx="1"/>
          </p:nvPr>
        </p:nvSpPr>
        <p:spPr>
          <a:xfrm>
            <a:off x="838200" y="900333"/>
            <a:ext cx="10515600" cy="5276630"/>
          </a:xfrm>
        </p:spPr>
        <p:txBody>
          <a:bodyPr>
            <a:normAutofit/>
          </a:bodyPr>
          <a:lstStyle/>
          <a:p>
            <a:pPr marL="114300" indent="0">
              <a:buNone/>
            </a:pPr>
            <a:endParaRPr lang="en-IN" b="1" dirty="0"/>
          </a:p>
          <a:p>
            <a:pPr marL="114300" indent="0">
              <a:buNone/>
            </a:pPr>
            <a:endParaRPr lang="en-IN" b="1" dirty="0"/>
          </a:p>
          <a:p>
            <a:pPr marL="114300" indent="0">
              <a:buNone/>
            </a:pPr>
            <a:r>
              <a:rPr lang="en-IN" sz="2000" b="1" dirty="0"/>
              <a:t>Output </a:t>
            </a:r>
          </a:p>
          <a:p>
            <a:pPr marL="114300" indent="0">
              <a:buNone/>
            </a:pPr>
            <a:endParaRPr lang="en-IN" b="1" dirty="0"/>
          </a:p>
          <a:p>
            <a:pPr marL="114300" indent="0">
              <a:buNone/>
            </a:pPr>
            <a:endParaRPr lang="en-IN" b="1" dirty="0"/>
          </a:p>
          <a:p>
            <a:pPr marL="114300" indent="0">
              <a:buNone/>
            </a:pPr>
            <a:endParaRPr lang="en-IN" b="1" dirty="0"/>
          </a:p>
          <a:p>
            <a:pPr lvl="0"/>
            <a:r>
              <a:rPr lang="en-US" sz="1800" dirty="0">
                <a:latin typeface="Times New Roman" panose="02020603050405020304" pitchFamily="18" charset="0"/>
                <a:cs typeface="Times New Roman" panose="02020603050405020304" pitchFamily="18" charset="0"/>
              </a:rPr>
              <a:t>counts the number of vehicles for each vehicle type. </a:t>
            </a:r>
          </a:p>
          <a:p>
            <a:pPr lvl="0"/>
            <a:r>
              <a:rPr lang="en-US" sz="1800" dirty="0">
                <a:latin typeface="Times New Roman" panose="02020603050405020304" pitchFamily="18" charset="0"/>
                <a:cs typeface="Times New Roman" panose="02020603050405020304" pitchFamily="18" charset="0"/>
              </a:rPr>
              <a:t>It helps compare vehicle usage/availability across different vehicle types</a:t>
            </a:r>
            <a:r>
              <a:rPr lang="en-US" sz="2000" dirty="0"/>
              <a:t>. </a:t>
            </a:r>
          </a:p>
          <a:p>
            <a:pPr marL="114300" indent="0">
              <a:buNone/>
            </a:pPr>
            <a:r>
              <a:rPr lang="en-IN" sz="2000" dirty="0"/>
              <a:t> </a:t>
            </a:r>
          </a:p>
          <a:p>
            <a:pPr marL="114300" indent="0">
              <a:buNone/>
            </a:pPr>
            <a:endParaRPr lang="en-IN" b="1" dirty="0"/>
          </a:p>
          <a:p>
            <a:pPr marL="114300" indent="0">
              <a:buNone/>
            </a:pPr>
            <a:endParaRPr lang="en-US" dirty="0"/>
          </a:p>
        </p:txBody>
      </p:sp>
      <p:pic>
        <p:nvPicPr>
          <p:cNvPr id="5" name="Picture 4">
            <a:extLst>
              <a:ext uri="{FF2B5EF4-FFF2-40B4-BE49-F238E27FC236}">
                <a16:creationId xmlns:a16="http://schemas.microsoft.com/office/drawing/2014/main" id="{7AE3D90A-FEF0-BD56-D452-22CB8D741D4E}"/>
              </a:ext>
            </a:extLst>
          </p:cNvPr>
          <p:cNvPicPr>
            <a:picLocks noChangeAspect="1"/>
          </p:cNvPicPr>
          <p:nvPr/>
        </p:nvPicPr>
        <p:blipFill>
          <a:blip r:embed="rId2"/>
          <a:stretch>
            <a:fillRect/>
          </a:stretch>
        </p:blipFill>
        <p:spPr>
          <a:xfrm>
            <a:off x="838200" y="900333"/>
            <a:ext cx="5604803" cy="900331"/>
          </a:xfrm>
          <a:prstGeom prst="rect">
            <a:avLst/>
          </a:prstGeom>
        </p:spPr>
      </p:pic>
      <p:pic>
        <p:nvPicPr>
          <p:cNvPr id="9" name="Picture 8">
            <a:extLst>
              <a:ext uri="{FF2B5EF4-FFF2-40B4-BE49-F238E27FC236}">
                <a16:creationId xmlns:a16="http://schemas.microsoft.com/office/drawing/2014/main" id="{4AAB1A1E-CFD9-E8DE-A0A8-929EAEE4ACC6}"/>
              </a:ext>
            </a:extLst>
          </p:cNvPr>
          <p:cNvPicPr>
            <a:picLocks noChangeAspect="1"/>
          </p:cNvPicPr>
          <p:nvPr/>
        </p:nvPicPr>
        <p:blipFill>
          <a:blip r:embed="rId3"/>
          <a:stretch>
            <a:fillRect/>
          </a:stretch>
        </p:blipFill>
        <p:spPr>
          <a:xfrm>
            <a:off x="2365275" y="1932524"/>
            <a:ext cx="1559611" cy="1387451"/>
          </a:xfrm>
          <a:prstGeom prst="rect">
            <a:avLst/>
          </a:prstGeom>
        </p:spPr>
      </p:pic>
    </p:spTree>
    <p:extLst>
      <p:ext uri="{BB962C8B-B14F-4D97-AF65-F5344CB8AC3E}">
        <p14:creationId xmlns:p14="http://schemas.microsoft.com/office/powerpoint/2010/main" val="10683872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30D28-92C1-C2AB-A7F9-F88FD96C284D}"/>
              </a:ext>
            </a:extLst>
          </p:cNvPr>
          <p:cNvSpPr>
            <a:spLocks noGrp="1"/>
          </p:cNvSpPr>
          <p:nvPr>
            <p:ph type="title"/>
          </p:nvPr>
        </p:nvSpPr>
        <p:spPr>
          <a:xfrm>
            <a:off x="838200" y="182245"/>
            <a:ext cx="10515600" cy="718087"/>
          </a:xfrm>
        </p:spPr>
        <p:txBody>
          <a:bodyPr>
            <a:normAutofit/>
          </a:bodyPr>
          <a:lstStyle/>
          <a:p>
            <a:r>
              <a:rPr lang="en-US" sz="2000" b="1" dirty="0">
                <a:latin typeface="Times New Roman" panose="02020603050405020304" pitchFamily="18" charset="0"/>
                <a:cs typeface="Times New Roman" panose="02020603050405020304" pitchFamily="18" charset="0"/>
              </a:rPr>
              <a:t>Look at delivery performance across different vehicles.</a:t>
            </a:r>
          </a:p>
        </p:txBody>
      </p:sp>
      <p:sp>
        <p:nvSpPr>
          <p:cNvPr id="3" name="Text Placeholder 2">
            <a:extLst>
              <a:ext uri="{FF2B5EF4-FFF2-40B4-BE49-F238E27FC236}">
                <a16:creationId xmlns:a16="http://schemas.microsoft.com/office/drawing/2014/main" id="{3BB035A0-A877-8FF9-3C1D-CBD821AE0B0C}"/>
              </a:ext>
            </a:extLst>
          </p:cNvPr>
          <p:cNvSpPr>
            <a:spLocks noGrp="1"/>
          </p:cNvSpPr>
          <p:nvPr>
            <p:ph type="body" idx="1"/>
          </p:nvPr>
        </p:nvSpPr>
        <p:spPr>
          <a:xfrm>
            <a:off x="838200" y="1026942"/>
            <a:ext cx="10515600" cy="5051547"/>
          </a:xfrm>
        </p:spPr>
        <p:txBody>
          <a:bodyPr>
            <a:normAutofit/>
          </a:bodyPr>
          <a:lstStyle/>
          <a:p>
            <a:pPr marL="114300" indent="0">
              <a:buNone/>
            </a:pPr>
            <a:endParaRPr lang="en-US" dirty="0"/>
          </a:p>
          <a:p>
            <a:pPr marL="114300" indent="0">
              <a:buNone/>
            </a:pPr>
            <a:endParaRPr lang="en-US" dirty="0"/>
          </a:p>
          <a:p>
            <a:pPr marL="114300" indent="0">
              <a:buNone/>
            </a:pPr>
            <a:endParaRPr lang="en-US" dirty="0"/>
          </a:p>
          <a:p>
            <a:pPr marL="114300" indent="0">
              <a:buNone/>
            </a:pPr>
            <a:r>
              <a:rPr lang="en-IN" sz="2000" b="1" dirty="0"/>
              <a:t>Output </a:t>
            </a:r>
          </a:p>
          <a:p>
            <a:pPr marL="114300" indent="0">
              <a:buNone/>
            </a:pPr>
            <a:endParaRPr lang="en-IN" b="1" dirty="0"/>
          </a:p>
          <a:p>
            <a:pPr marL="114300" indent="0">
              <a:buNone/>
            </a:pPr>
            <a:endParaRPr lang="en-IN" b="1" dirty="0"/>
          </a:p>
          <a:p>
            <a:pPr marL="114300" indent="0">
              <a:buNone/>
            </a:pPr>
            <a:endParaRPr lang="en-IN" b="1" dirty="0"/>
          </a:p>
          <a:p>
            <a:pPr lvl="0"/>
            <a:r>
              <a:rPr lang="en-US" sz="1800" dirty="0">
                <a:latin typeface="Times New Roman" panose="02020603050405020304" pitchFamily="18" charset="0"/>
                <a:cs typeface="Times New Roman" panose="02020603050405020304" pitchFamily="18" charset="0"/>
              </a:rPr>
              <a:t>calculates the average delivery time for each vehicle type. </a:t>
            </a:r>
          </a:p>
          <a:p>
            <a:pPr lvl="0"/>
            <a:r>
              <a:rPr lang="en-US" sz="1800" dirty="0">
                <a:latin typeface="Times New Roman" panose="02020603050405020304" pitchFamily="18" charset="0"/>
                <a:cs typeface="Times New Roman" panose="02020603050405020304" pitchFamily="18" charset="0"/>
              </a:rPr>
              <a:t>It helps identify which vehicle types are faster or slower in completing deliveries. </a:t>
            </a:r>
          </a:p>
          <a:p>
            <a:pPr marL="114300" indent="0">
              <a:buNone/>
            </a:pPr>
            <a:endParaRPr lang="en-IN" b="1" dirty="0"/>
          </a:p>
          <a:p>
            <a:pPr marL="114300" indent="0">
              <a:buNone/>
            </a:pPr>
            <a:endParaRPr lang="en-IN" b="1" dirty="0"/>
          </a:p>
          <a:p>
            <a:pPr marL="114300" indent="0">
              <a:buNone/>
            </a:pPr>
            <a:endParaRPr lang="en-IN" b="1" dirty="0"/>
          </a:p>
          <a:p>
            <a:pPr marL="114300" indent="0">
              <a:buNone/>
            </a:pPr>
            <a:endParaRPr lang="en-IN" b="1" dirty="0"/>
          </a:p>
          <a:p>
            <a:pPr marL="114300" indent="0">
              <a:buNone/>
            </a:pPr>
            <a:endParaRPr lang="en-IN" b="1" dirty="0"/>
          </a:p>
          <a:p>
            <a:pPr marL="114300" indent="0">
              <a:buNone/>
            </a:pPr>
            <a:endParaRPr lang="en-US" dirty="0"/>
          </a:p>
        </p:txBody>
      </p:sp>
      <p:pic>
        <p:nvPicPr>
          <p:cNvPr id="9" name="Picture 8">
            <a:extLst>
              <a:ext uri="{FF2B5EF4-FFF2-40B4-BE49-F238E27FC236}">
                <a16:creationId xmlns:a16="http://schemas.microsoft.com/office/drawing/2014/main" id="{9A633D4B-F97B-0D71-778B-9C645E0F7BFC}"/>
              </a:ext>
            </a:extLst>
          </p:cNvPr>
          <p:cNvPicPr>
            <a:picLocks noChangeAspect="1"/>
          </p:cNvPicPr>
          <p:nvPr/>
        </p:nvPicPr>
        <p:blipFill>
          <a:blip r:embed="rId2"/>
          <a:stretch>
            <a:fillRect/>
          </a:stretch>
        </p:blipFill>
        <p:spPr>
          <a:xfrm>
            <a:off x="838200" y="1026942"/>
            <a:ext cx="7630551" cy="1280160"/>
          </a:xfrm>
          <a:prstGeom prst="rect">
            <a:avLst/>
          </a:prstGeom>
        </p:spPr>
      </p:pic>
      <p:pic>
        <p:nvPicPr>
          <p:cNvPr id="11" name="Picture 10">
            <a:extLst>
              <a:ext uri="{FF2B5EF4-FFF2-40B4-BE49-F238E27FC236}">
                <a16:creationId xmlns:a16="http://schemas.microsoft.com/office/drawing/2014/main" id="{C621B78F-3981-1C97-E83B-7A2082C7C485}"/>
              </a:ext>
            </a:extLst>
          </p:cNvPr>
          <p:cNvPicPr>
            <a:picLocks noChangeAspect="1"/>
          </p:cNvPicPr>
          <p:nvPr/>
        </p:nvPicPr>
        <p:blipFill>
          <a:blip r:embed="rId3"/>
          <a:stretch>
            <a:fillRect/>
          </a:stretch>
        </p:blipFill>
        <p:spPr>
          <a:xfrm>
            <a:off x="2273031" y="2530646"/>
            <a:ext cx="1961344" cy="1647460"/>
          </a:xfrm>
          <a:prstGeom prst="rect">
            <a:avLst/>
          </a:prstGeom>
        </p:spPr>
      </p:pic>
    </p:spTree>
    <p:extLst>
      <p:ext uri="{BB962C8B-B14F-4D97-AF65-F5344CB8AC3E}">
        <p14:creationId xmlns:p14="http://schemas.microsoft.com/office/powerpoint/2010/main" val="22506188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010E0-FB3A-160A-66EE-CEA6B5C05A7A}"/>
              </a:ext>
            </a:extLst>
          </p:cNvPr>
          <p:cNvSpPr>
            <a:spLocks noGrp="1"/>
          </p:cNvSpPr>
          <p:nvPr>
            <p:ph type="title"/>
          </p:nvPr>
        </p:nvSpPr>
        <p:spPr>
          <a:xfrm>
            <a:off x="838200" y="18256"/>
            <a:ext cx="10515600" cy="662782"/>
          </a:xfrm>
        </p:spPr>
        <p:txBody>
          <a:bodyPr>
            <a:normAutofit/>
          </a:bodyPr>
          <a:lstStyle/>
          <a:p>
            <a:r>
              <a:rPr lang="en-US" sz="2000" b="1" dirty="0">
                <a:latin typeface="Times New Roman" panose="02020603050405020304" pitchFamily="18" charset="0"/>
                <a:cs typeface="Times New Roman" panose="02020603050405020304" pitchFamily="18" charset="0"/>
              </a:rPr>
              <a:t>Examine which deliveries required multiple attempts before succeeding.</a:t>
            </a:r>
          </a:p>
        </p:txBody>
      </p:sp>
      <p:sp>
        <p:nvSpPr>
          <p:cNvPr id="3" name="Text Placeholder 2">
            <a:extLst>
              <a:ext uri="{FF2B5EF4-FFF2-40B4-BE49-F238E27FC236}">
                <a16:creationId xmlns:a16="http://schemas.microsoft.com/office/drawing/2014/main" id="{6F4B438B-250B-6A2F-D713-939C0E8E951F}"/>
              </a:ext>
            </a:extLst>
          </p:cNvPr>
          <p:cNvSpPr>
            <a:spLocks noGrp="1"/>
          </p:cNvSpPr>
          <p:nvPr>
            <p:ph type="body" idx="1"/>
          </p:nvPr>
        </p:nvSpPr>
        <p:spPr>
          <a:xfrm>
            <a:off x="838200" y="801858"/>
            <a:ext cx="10515600" cy="5375105"/>
          </a:xfrm>
        </p:spPr>
        <p:txBody>
          <a:bodyPr>
            <a:normAutofit/>
          </a:bodyPr>
          <a:lstStyle/>
          <a:p>
            <a:pPr marL="114300" indent="0">
              <a:buNone/>
            </a:pPr>
            <a:endParaRPr lang="en-US" dirty="0"/>
          </a:p>
          <a:p>
            <a:pPr marL="114300" indent="0">
              <a:buNone/>
            </a:pPr>
            <a:endParaRPr lang="en-US" dirty="0"/>
          </a:p>
          <a:p>
            <a:pPr marL="114300" indent="0">
              <a:buNone/>
            </a:pPr>
            <a:endParaRPr lang="en-IN" b="1" dirty="0"/>
          </a:p>
          <a:p>
            <a:pPr marL="114300" indent="0">
              <a:buNone/>
            </a:pPr>
            <a:r>
              <a:rPr lang="en-IN" sz="2000" b="1" dirty="0"/>
              <a:t>Output </a:t>
            </a:r>
          </a:p>
          <a:p>
            <a:pPr marL="114300" indent="0">
              <a:buNone/>
            </a:pPr>
            <a:endParaRPr lang="en-IN" b="1" dirty="0"/>
          </a:p>
          <a:p>
            <a:pPr marL="114300" indent="0">
              <a:buNone/>
            </a:pPr>
            <a:endParaRPr lang="en-IN" b="1" dirty="0"/>
          </a:p>
          <a:p>
            <a:pPr marL="114300" indent="0">
              <a:buNone/>
            </a:pPr>
            <a:endParaRPr lang="en-IN" b="1" dirty="0"/>
          </a:p>
          <a:p>
            <a:pPr lvl="0"/>
            <a:r>
              <a:rPr lang="en-US" sz="1800" dirty="0">
                <a:latin typeface="Times New Roman" panose="02020603050405020304" pitchFamily="18" charset="0"/>
                <a:cs typeface="Times New Roman" panose="02020603050405020304" pitchFamily="18" charset="0"/>
              </a:rPr>
              <a:t>identifies successfully delivered orders that required more than one attempt. </a:t>
            </a:r>
          </a:p>
          <a:p>
            <a:pPr lvl="0"/>
            <a:r>
              <a:rPr lang="en-US" sz="1800" dirty="0">
                <a:latin typeface="Times New Roman" panose="02020603050405020304" pitchFamily="18" charset="0"/>
                <a:cs typeface="Times New Roman" panose="02020603050405020304" pitchFamily="18" charset="0"/>
              </a:rPr>
              <a:t>It helps find deliveries that faced initial failures or difficulties before succeeding. </a:t>
            </a:r>
          </a:p>
          <a:p>
            <a:pPr marL="114300" indent="0">
              <a:buNone/>
            </a:pPr>
            <a:endParaRPr lang="en-IN" sz="1800" dirty="0">
              <a:latin typeface="Times New Roman" panose="02020603050405020304" pitchFamily="18" charset="0"/>
              <a:cs typeface="Times New Roman" panose="02020603050405020304" pitchFamily="18" charset="0"/>
            </a:endParaRPr>
          </a:p>
          <a:p>
            <a:pPr marL="114300" indent="0">
              <a:buNone/>
            </a:pPr>
            <a:endParaRPr lang="en-US" dirty="0"/>
          </a:p>
        </p:txBody>
      </p:sp>
      <p:pic>
        <p:nvPicPr>
          <p:cNvPr id="5" name="Picture 4">
            <a:extLst>
              <a:ext uri="{FF2B5EF4-FFF2-40B4-BE49-F238E27FC236}">
                <a16:creationId xmlns:a16="http://schemas.microsoft.com/office/drawing/2014/main" id="{228AFD2D-8FC6-F99B-0D35-4C2C9A948BCF}"/>
              </a:ext>
            </a:extLst>
          </p:cNvPr>
          <p:cNvPicPr>
            <a:picLocks noChangeAspect="1"/>
          </p:cNvPicPr>
          <p:nvPr/>
        </p:nvPicPr>
        <p:blipFill>
          <a:blip r:embed="rId2"/>
          <a:stretch>
            <a:fillRect/>
          </a:stretch>
        </p:blipFill>
        <p:spPr>
          <a:xfrm>
            <a:off x="838200" y="801858"/>
            <a:ext cx="6870895" cy="1055077"/>
          </a:xfrm>
          <a:prstGeom prst="rect">
            <a:avLst/>
          </a:prstGeom>
        </p:spPr>
      </p:pic>
      <p:pic>
        <p:nvPicPr>
          <p:cNvPr id="7" name="Picture 6">
            <a:extLst>
              <a:ext uri="{FF2B5EF4-FFF2-40B4-BE49-F238E27FC236}">
                <a16:creationId xmlns:a16="http://schemas.microsoft.com/office/drawing/2014/main" id="{3C3DDB14-37A3-CAEB-F92B-EBD828D18855}"/>
              </a:ext>
            </a:extLst>
          </p:cNvPr>
          <p:cNvPicPr>
            <a:picLocks noChangeAspect="1"/>
          </p:cNvPicPr>
          <p:nvPr/>
        </p:nvPicPr>
        <p:blipFill>
          <a:blip r:embed="rId3"/>
          <a:stretch>
            <a:fillRect/>
          </a:stretch>
        </p:blipFill>
        <p:spPr>
          <a:xfrm>
            <a:off x="2226943" y="1977756"/>
            <a:ext cx="2091839" cy="2003402"/>
          </a:xfrm>
          <a:prstGeom prst="rect">
            <a:avLst/>
          </a:prstGeom>
        </p:spPr>
      </p:pic>
    </p:spTree>
    <p:extLst>
      <p:ext uri="{BB962C8B-B14F-4D97-AF65-F5344CB8AC3E}">
        <p14:creationId xmlns:p14="http://schemas.microsoft.com/office/powerpoint/2010/main" val="34486804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896D4-391D-4B7B-8239-F1ACFC09F98A}"/>
              </a:ext>
            </a:extLst>
          </p:cNvPr>
          <p:cNvSpPr>
            <a:spLocks noGrp="1"/>
          </p:cNvSpPr>
          <p:nvPr>
            <p:ph type="title"/>
          </p:nvPr>
        </p:nvSpPr>
        <p:spPr>
          <a:xfrm>
            <a:off x="838200" y="125974"/>
            <a:ext cx="10515600" cy="661817"/>
          </a:xfrm>
        </p:spPr>
        <p:txBody>
          <a:bodyPr>
            <a:normAutofit/>
          </a:bodyPr>
          <a:lstStyle/>
          <a:p>
            <a:r>
              <a:rPr lang="en-US" sz="2000" b="1" dirty="0">
                <a:latin typeface="Times New Roman" panose="02020603050405020304" pitchFamily="18" charset="0"/>
                <a:cs typeface="Times New Roman" panose="02020603050405020304" pitchFamily="18" charset="0"/>
              </a:rPr>
              <a:t>Identify common delivery statuses and problem patterns.</a:t>
            </a:r>
          </a:p>
        </p:txBody>
      </p:sp>
      <p:sp>
        <p:nvSpPr>
          <p:cNvPr id="3" name="Text Placeholder 2">
            <a:extLst>
              <a:ext uri="{FF2B5EF4-FFF2-40B4-BE49-F238E27FC236}">
                <a16:creationId xmlns:a16="http://schemas.microsoft.com/office/drawing/2014/main" id="{0446C973-3908-7097-DDD1-1A165ABA514A}"/>
              </a:ext>
            </a:extLst>
          </p:cNvPr>
          <p:cNvSpPr>
            <a:spLocks noGrp="1"/>
          </p:cNvSpPr>
          <p:nvPr>
            <p:ph type="body" idx="1"/>
          </p:nvPr>
        </p:nvSpPr>
        <p:spPr>
          <a:xfrm>
            <a:off x="838200" y="886265"/>
            <a:ext cx="10515600" cy="5164089"/>
          </a:xfrm>
        </p:spPr>
        <p:txBody>
          <a:bodyPr>
            <a:normAutofit/>
          </a:bodyPr>
          <a:lstStyle/>
          <a:p>
            <a:pPr marL="114300" indent="0">
              <a:buNone/>
            </a:pPr>
            <a:endParaRPr lang="en-US" dirty="0"/>
          </a:p>
          <a:p>
            <a:pPr marL="114300" indent="0">
              <a:buNone/>
            </a:pPr>
            <a:endParaRPr lang="en-US" dirty="0"/>
          </a:p>
          <a:p>
            <a:pPr marL="114300" indent="0">
              <a:buNone/>
            </a:pPr>
            <a:endParaRPr lang="en-IN" b="1" dirty="0"/>
          </a:p>
          <a:p>
            <a:pPr marL="114300" indent="0">
              <a:buNone/>
            </a:pPr>
            <a:r>
              <a:rPr lang="en-IN" sz="2000" b="1" dirty="0"/>
              <a:t>Output </a:t>
            </a:r>
          </a:p>
          <a:p>
            <a:pPr marL="114300" indent="0">
              <a:buNone/>
            </a:pPr>
            <a:endParaRPr lang="en-IN" b="1" dirty="0"/>
          </a:p>
          <a:p>
            <a:pPr marL="114300" lvl="0" indent="0">
              <a:buNone/>
            </a:pPr>
            <a:r>
              <a:rPr lang="en-IN" sz="2400" b="1" dirty="0"/>
              <a:t>.   </a:t>
            </a:r>
            <a:r>
              <a:rPr lang="en-US" sz="1800" dirty="0">
                <a:latin typeface="Times New Roman" panose="02020603050405020304" pitchFamily="18" charset="0"/>
                <a:cs typeface="Times New Roman" panose="02020603050405020304" pitchFamily="18" charset="0"/>
              </a:rPr>
              <a:t>counts deliveries for each status and ranks them by frequency. </a:t>
            </a:r>
          </a:p>
          <a:p>
            <a:pPr lvl="0"/>
            <a:r>
              <a:rPr lang="en-US" sz="1800" dirty="0">
                <a:latin typeface="Times New Roman" panose="02020603050405020304" pitchFamily="18" charset="0"/>
                <a:cs typeface="Times New Roman" panose="02020603050405020304" pitchFamily="18" charset="0"/>
              </a:rPr>
              <a:t>It helps identify common delivery outcomes and problem patterns, such as Failed, Pending, and Rescheduled deliveries. </a:t>
            </a:r>
          </a:p>
          <a:p>
            <a:pPr marL="114300" indent="0">
              <a:buNone/>
            </a:pPr>
            <a:endParaRPr lang="en-US" dirty="0"/>
          </a:p>
        </p:txBody>
      </p:sp>
      <p:pic>
        <p:nvPicPr>
          <p:cNvPr id="9" name="Picture 8">
            <a:extLst>
              <a:ext uri="{FF2B5EF4-FFF2-40B4-BE49-F238E27FC236}">
                <a16:creationId xmlns:a16="http://schemas.microsoft.com/office/drawing/2014/main" id="{C99E467D-E4A0-3ED4-23B1-49BD35EA5ADD}"/>
              </a:ext>
            </a:extLst>
          </p:cNvPr>
          <p:cNvPicPr>
            <a:picLocks noChangeAspect="1"/>
          </p:cNvPicPr>
          <p:nvPr/>
        </p:nvPicPr>
        <p:blipFill>
          <a:blip r:embed="rId2"/>
          <a:stretch>
            <a:fillRect/>
          </a:stretch>
        </p:blipFill>
        <p:spPr>
          <a:xfrm>
            <a:off x="1044600" y="886265"/>
            <a:ext cx="6594158" cy="1294227"/>
          </a:xfrm>
          <a:prstGeom prst="rect">
            <a:avLst/>
          </a:prstGeom>
        </p:spPr>
      </p:pic>
      <p:pic>
        <p:nvPicPr>
          <p:cNvPr id="11" name="Picture 10">
            <a:extLst>
              <a:ext uri="{FF2B5EF4-FFF2-40B4-BE49-F238E27FC236}">
                <a16:creationId xmlns:a16="http://schemas.microsoft.com/office/drawing/2014/main" id="{FB43F362-2395-7F44-5DBC-752394CB4949}"/>
              </a:ext>
            </a:extLst>
          </p:cNvPr>
          <p:cNvPicPr>
            <a:picLocks noChangeAspect="1"/>
          </p:cNvPicPr>
          <p:nvPr/>
        </p:nvPicPr>
        <p:blipFill>
          <a:blip r:embed="rId3"/>
          <a:stretch>
            <a:fillRect/>
          </a:stretch>
        </p:blipFill>
        <p:spPr>
          <a:xfrm>
            <a:off x="2212218" y="2433710"/>
            <a:ext cx="2022158" cy="717453"/>
          </a:xfrm>
          <a:prstGeom prst="rect">
            <a:avLst/>
          </a:prstGeom>
        </p:spPr>
      </p:pic>
    </p:spTree>
    <p:extLst>
      <p:ext uri="{BB962C8B-B14F-4D97-AF65-F5344CB8AC3E}">
        <p14:creationId xmlns:p14="http://schemas.microsoft.com/office/powerpoint/2010/main" val="5642356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E4606-209C-B5F4-3AC0-2E0EB119826D}"/>
              </a:ext>
            </a:extLst>
          </p:cNvPr>
          <p:cNvSpPr>
            <a:spLocks noGrp="1"/>
          </p:cNvSpPr>
          <p:nvPr>
            <p:ph type="title"/>
          </p:nvPr>
        </p:nvSpPr>
        <p:spPr>
          <a:xfrm>
            <a:off x="838200" y="125974"/>
            <a:ext cx="10515600" cy="555063"/>
          </a:xfrm>
        </p:spPr>
        <p:txBody>
          <a:bodyPr>
            <a:normAutofit/>
          </a:bodyPr>
          <a:lstStyle/>
          <a:p>
            <a:r>
              <a:rPr lang="en-US" sz="2000" b="1" dirty="0">
                <a:latin typeface="Times New Roman" panose="02020603050405020304" pitchFamily="18" charset="0"/>
                <a:cs typeface="Times New Roman" panose="02020603050405020304" pitchFamily="18" charset="0"/>
              </a:rPr>
              <a:t>Compare delivery performance for orders with multiple attempts.</a:t>
            </a:r>
          </a:p>
        </p:txBody>
      </p:sp>
      <p:sp>
        <p:nvSpPr>
          <p:cNvPr id="3" name="Text Placeholder 2">
            <a:extLst>
              <a:ext uri="{FF2B5EF4-FFF2-40B4-BE49-F238E27FC236}">
                <a16:creationId xmlns:a16="http://schemas.microsoft.com/office/drawing/2014/main" id="{5C6557CA-5BAD-A1E0-00E6-D2C2850E22C2}"/>
              </a:ext>
            </a:extLst>
          </p:cNvPr>
          <p:cNvSpPr>
            <a:spLocks noGrp="1"/>
          </p:cNvSpPr>
          <p:nvPr>
            <p:ph type="body" idx="1"/>
          </p:nvPr>
        </p:nvSpPr>
        <p:spPr>
          <a:xfrm>
            <a:off x="838200" y="815926"/>
            <a:ext cx="10515600" cy="5361037"/>
          </a:xfrm>
        </p:spPr>
        <p:txBody>
          <a:bodyPr>
            <a:normAutofit/>
          </a:bodyPr>
          <a:lstStyle/>
          <a:p>
            <a:pPr marL="114300" indent="0">
              <a:buNone/>
            </a:pPr>
            <a:endParaRPr lang="en-US" dirty="0"/>
          </a:p>
          <a:p>
            <a:pPr marL="114300" indent="0">
              <a:buNone/>
            </a:pPr>
            <a:endParaRPr lang="en-US" dirty="0"/>
          </a:p>
          <a:p>
            <a:pPr marL="114300" indent="0">
              <a:buNone/>
            </a:pPr>
            <a:endParaRPr lang="en-IN" sz="2000" b="1" dirty="0"/>
          </a:p>
          <a:p>
            <a:pPr marL="114300" indent="0">
              <a:buNone/>
            </a:pPr>
            <a:endParaRPr lang="en-IN" sz="2000" b="1" dirty="0"/>
          </a:p>
          <a:p>
            <a:pPr marL="114300" indent="0">
              <a:buNone/>
            </a:pPr>
            <a:r>
              <a:rPr lang="en-IN" sz="2000" b="1" dirty="0"/>
              <a:t>Output </a:t>
            </a:r>
          </a:p>
          <a:p>
            <a:pPr marL="114300" indent="0">
              <a:buNone/>
            </a:pPr>
            <a:endParaRPr lang="en-IN" b="1" dirty="0"/>
          </a:p>
          <a:p>
            <a:pPr marL="114300" indent="0">
              <a:buNone/>
            </a:pPr>
            <a:endParaRPr lang="en-IN" b="1" dirty="0"/>
          </a:p>
          <a:p>
            <a:pPr marL="114300" indent="0">
              <a:buNone/>
            </a:pPr>
            <a:endParaRPr lang="en-IN" b="1" dirty="0"/>
          </a:p>
          <a:p>
            <a:pPr lvl="0"/>
            <a:r>
              <a:rPr lang="en-US" sz="1800" dirty="0">
                <a:latin typeface="Times New Roman" panose="02020603050405020304" pitchFamily="18" charset="0"/>
                <a:cs typeface="Times New Roman" panose="02020603050405020304" pitchFamily="18" charset="0"/>
              </a:rPr>
              <a:t>This query identifies deliveries that required more than one attempt and shows their final status. </a:t>
            </a:r>
          </a:p>
          <a:p>
            <a:pPr lvl="0"/>
            <a:r>
              <a:rPr lang="en-US" sz="1800" dirty="0">
                <a:latin typeface="Times New Roman" panose="02020603050405020304" pitchFamily="18" charset="0"/>
                <a:cs typeface="Times New Roman" panose="02020603050405020304" pitchFamily="18" charset="0"/>
              </a:rPr>
              <a:t>It helps compare delivery performance and identify deliveries with repeated attempts.</a:t>
            </a:r>
          </a:p>
          <a:p>
            <a:pPr marL="114300" indent="0">
              <a:buNone/>
            </a:pPr>
            <a:endParaRPr lang="en-IN" sz="1800" b="1" dirty="0">
              <a:latin typeface="Times New Roman" panose="02020603050405020304" pitchFamily="18" charset="0"/>
              <a:cs typeface="Times New Roman" panose="02020603050405020304" pitchFamily="18" charset="0"/>
            </a:endParaRPr>
          </a:p>
          <a:p>
            <a:pPr marL="114300" indent="0">
              <a:buNone/>
            </a:pPr>
            <a:endParaRPr lang="en-US" dirty="0"/>
          </a:p>
        </p:txBody>
      </p:sp>
      <p:pic>
        <p:nvPicPr>
          <p:cNvPr id="5" name="Picture 4">
            <a:extLst>
              <a:ext uri="{FF2B5EF4-FFF2-40B4-BE49-F238E27FC236}">
                <a16:creationId xmlns:a16="http://schemas.microsoft.com/office/drawing/2014/main" id="{9FA6FBB0-3D5F-F56B-535D-07BBEBEEAF3A}"/>
              </a:ext>
            </a:extLst>
          </p:cNvPr>
          <p:cNvPicPr>
            <a:picLocks noChangeAspect="1"/>
          </p:cNvPicPr>
          <p:nvPr/>
        </p:nvPicPr>
        <p:blipFill>
          <a:blip r:embed="rId2"/>
          <a:stretch>
            <a:fillRect/>
          </a:stretch>
        </p:blipFill>
        <p:spPr>
          <a:xfrm>
            <a:off x="838200" y="761083"/>
            <a:ext cx="8404274" cy="1111348"/>
          </a:xfrm>
          <a:prstGeom prst="rect">
            <a:avLst/>
          </a:prstGeom>
        </p:spPr>
      </p:pic>
      <p:pic>
        <p:nvPicPr>
          <p:cNvPr id="7" name="Picture 6">
            <a:extLst>
              <a:ext uri="{FF2B5EF4-FFF2-40B4-BE49-F238E27FC236}">
                <a16:creationId xmlns:a16="http://schemas.microsoft.com/office/drawing/2014/main" id="{E65A946F-DB65-1374-01AB-12F7020AA830}"/>
              </a:ext>
            </a:extLst>
          </p:cNvPr>
          <p:cNvPicPr>
            <a:picLocks noChangeAspect="1"/>
          </p:cNvPicPr>
          <p:nvPr/>
        </p:nvPicPr>
        <p:blipFill>
          <a:blip r:embed="rId3"/>
          <a:stretch>
            <a:fillRect/>
          </a:stretch>
        </p:blipFill>
        <p:spPr>
          <a:xfrm>
            <a:off x="2200055" y="2236030"/>
            <a:ext cx="2343810" cy="1815465"/>
          </a:xfrm>
          <a:prstGeom prst="rect">
            <a:avLst/>
          </a:prstGeom>
        </p:spPr>
      </p:pic>
    </p:spTree>
    <p:extLst>
      <p:ext uri="{BB962C8B-B14F-4D97-AF65-F5344CB8AC3E}">
        <p14:creationId xmlns:p14="http://schemas.microsoft.com/office/powerpoint/2010/main" val="2950628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B8905-0EFC-9BBF-9968-C92DA76BB12D}"/>
              </a:ext>
            </a:extLst>
          </p:cNvPr>
          <p:cNvSpPr>
            <a:spLocks noGrp="1"/>
          </p:cNvSpPr>
          <p:nvPr>
            <p:ph type="title"/>
          </p:nvPr>
        </p:nvSpPr>
        <p:spPr>
          <a:xfrm>
            <a:off x="838200" y="116730"/>
            <a:ext cx="10515600" cy="741400"/>
          </a:xfrm>
        </p:spPr>
        <p:txBody>
          <a:bodyPr>
            <a:normAutofit/>
          </a:bodyPr>
          <a:lstStyle/>
          <a:p>
            <a:pPr algn="ctr"/>
            <a:r>
              <a:rPr lang="en-US" sz="3200" b="1" dirty="0">
                <a:solidFill>
                  <a:schemeClr val="accent1">
                    <a:lumMod val="75000"/>
                  </a:schemeClr>
                </a:solidFill>
                <a:latin typeface="Times New Roman" panose="02020603050405020304" pitchFamily="18" charset="0"/>
                <a:cs typeface="Times New Roman" panose="02020603050405020304" pitchFamily="18" charset="0"/>
              </a:rPr>
              <a:t>Key Insights &amp; Findings</a:t>
            </a:r>
          </a:p>
        </p:txBody>
      </p:sp>
      <p:sp>
        <p:nvSpPr>
          <p:cNvPr id="3" name="Text Placeholder 2">
            <a:extLst>
              <a:ext uri="{FF2B5EF4-FFF2-40B4-BE49-F238E27FC236}">
                <a16:creationId xmlns:a16="http://schemas.microsoft.com/office/drawing/2014/main" id="{4206AE71-E926-1626-E217-1B1560ACF6BC}"/>
              </a:ext>
            </a:extLst>
          </p:cNvPr>
          <p:cNvSpPr>
            <a:spLocks noGrp="1"/>
          </p:cNvSpPr>
          <p:nvPr>
            <p:ph type="body" idx="1"/>
          </p:nvPr>
        </p:nvSpPr>
        <p:spPr>
          <a:xfrm>
            <a:off x="838200" y="1139483"/>
            <a:ext cx="10515600" cy="5037480"/>
          </a:xfrm>
        </p:spPr>
        <p:txBody>
          <a:bodyPr/>
          <a:lstStyle/>
          <a:p>
            <a:pPr lvl="0"/>
            <a:r>
              <a:rPr lang="en-US" sz="1800" dirty="0">
                <a:latin typeface="Times New Roman" panose="02020603050405020304" pitchFamily="18" charset="0"/>
                <a:cs typeface="Times New Roman" panose="02020603050405020304" pitchFamily="18" charset="0"/>
              </a:rPr>
              <a:t>Identified customer ordering patterns and repeat customers. </a:t>
            </a:r>
          </a:p>
          <a:p>
            <a:pPr marL="114300" lvl="0" indent="0">
              <a:buNone/>
            </a:pPr>
            <a:endParaRPr lang="en-US" sz="1800" dirty="0">
              <a:latin typeface="Times New Roman" panose="02020603050405020304" pitchFamily="18" charset="0"/>
              <a:cs typeface="Times New Roman" panose="02020603050405020304" pitchFamily="18" charset="0"/>
            </a:endParaRPr>
          </a:p>
          <a:p>
            <a:pPr lvl="0"/>
            <a:r>
              <a:rPr lang="en-US" sz="1800" dirty="0">
                <a:latin typeface="Times New Roman" panose="02020603050405020304" pitchFamily="18" charset="0"/>
                <a:cs typeface="Times New Roman" panose="02020603050405020304" pitchFamily="18" charset="0"/>
              </a:rPr>
              <a:t>Analyzed delivery performance and multiple delivery attempts. </a:t>
            </a:r>
          </a:p>
          <a:p>
            <a:pPr marL="114300" lvl="0" indent="0">
              <a:buNone/>
            </a:pPr>
            <a:endParaRPr lang="en-US" sz="1800" dirty="0">
              <a:latin typeface="Times New Roman" panose="02020603050405020304" pitchFamily="18" charset="0"/>
              <a:cs typeface="Times New Roman" panose="02020603050405020304" pitchFamily="18" charset="0"/>
            </a:endParaRPr>
          </a:p>
          <a:p>
            <a:pPr lvl="0"/>
            <a:r>
              <a:rPr lang="en-US" sz="1800" dirty="0">
                <a:latin typeface="Times New Roman" panose="02020603050405020304" pitchFamily="18" charset="0"/>
                <a:cs typeface="Times New Roman" panose="02020603050405020304" pitchFamily="18" charset="0"/>
              </a:rPr>
              <a:t>Found problematic zones and delivery issues affecting operations. </a:t>
            </a:r>
          </a:p>
          <a:p>
            <a:pPr marL="114300" lvl="0" indent="0">
              <a:buNone/>
            </a:pPr>
            <a:endParaRPr lang="en-US" sz="1800" dirty="0">
              <a:latin typeface="Times New Roman" panose="02020603050405020304" pitchFamily="18" charset="0"/>
              <a:cs typeface="Times New Roman" panose="02020603050405020304" pitchFamily="18" charset="0"/>
            </a:endParaRPr>
          </a:p>
          <a:p>
            <a:pPr lvl="0"/>
            <a:r>
              <a:rPr lang="en-US" sz="1800" dirty="0">
                <a:latin typeface="Times New Roman" panose="02020603050405020304" pitchFamily="18" charset="0"/>
                <a:cs typeface="Times New Roman" panose="02020603050405020304" pitchFamily="18" charset="0"/>
              </a:rPr>
              <a:t>Compared business vs. individual customers based on order activity. </a:t>
            </a:r>
          </a:p>
          <a:p>
            <a:pPr marL="114300" lvl="0" indent="0">
              <a:buNone/>
            </a:pPr>
            <a:endParaRPr lang="en-US" sz="1800" dirty="0">
              <a:latin typeface="Times New Roman" panose="02020603050405020304" pitchFamily="18" charset="0"/>
              <a:cs typeface="Times New Roman" panose="02020603050405020304" pitchFamily="18" charset="0"/>
            </a:endParaRPr>
          </a:p>
          <a:p>
            <a:pPr lvl="0"/>
            <a:r>
              <a:rPr lang="en-US" sz="1800" dirty="0">
                <a:latin typeface="Times New Roman" panose="02020603050405020304" pitchFamily="18" charset="0"/>
                <a:cs typeface="Times New Roman" panose="02020603050405020304" pitchFamily="18" charset="0"/>
              </a:rPr>
              <a:t>Used SQL analysis to identify patterns that can support better business decisions.</a:t>
            </a:r>
          </a:p>
          <a:p>
            <a:endParaRPr lang="en-US" dirty="0"/>
          </a:p>
        </p:txBody>
      </p:sp>
    </p:spTree>
    <p:extLst>
      <p:ext uri="{BB962C8B-B14F-4D97-AF65-F5344CB8AC3E}">
        <p14:creationId xmlns:p14="http://schemas.microsoft.com/office/powerpoint/2010/main" val="35680943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3D72E-1D2C-EFEC-E7FD-4F2A8940DF8C}"/>
              </a:ext>
            </a:extLst>
          </p:cNvPr>
          <p:cNvSpPr>
            <a:spLocks noGrp="1"/>
          </p:cNvSpPr>
          <p:nvPr>
            <p:ph type="title"/>
          </p:nvPr>
        </p:nvSpPr>
        <p:spPr/>
        <p:txBody>
          <a:bodyPr>
            <a:normAutofit/>
          </a:bodyPr>
          <a:lstStyle/>
          <a:p>
            <a:pPr algn="ctr"/>
            <a:r>
              <a:rPr lang="en-US" sz="3200" b="1" dirty="0">
                <a:solidFill>
                  <a:schemeClr val="accent1">
                    <a:lumMod val="75000"/>
                  </a:schemeClr>
                </a:solidFill>
                <a:latin typeface="Times New Roman" panose="02020603050405020304" pitchFamily="18" charset="0"/>
                <a:cs typeface="Times New Roman" panose="02020603050405020304" pitchFamily="18" charset="0"/>
              </a:rPr>
              <a:t>Challenges Faced in the Project</a:t>
            </a:r>
            <a:br>
              <a:rPr lang="en-US" sz="2000" b="1" dirty="0"/>
            </a:br>
            <a:endParaRPr lang="en-US" sz="20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B552FFD8-D1CE-D004-86FA-C2CE2A4436B6}"/>
              </a:ext>
            </a:extLst>
          </p:cNvPr>
          <p:cNvSpPr>
            <a:spLocks noGrp="1"/>
          </p:cNvSpPr>
          <p:nvPr>
            <p:ph type="body" idx="1"/>
          </p:nvPr>
        </p:nvSpPr>
        <p:spPr/>
        <p:txBody>
          <a:bodyPr/>
          <a:lstStyle/>
          <a:p>
            <a:pPr lvl="0"/>
            <a:r>
              <a:rPr lang="en-US" sz="1800" dirty="0">
                <a:latin typeface="Times New Roman" panose="02020603050405020304" pitchFamily="18" charset="0"/>
                <a:cs typeface="Times New Roman" panose="02020603050405020304" pitchFamily="18" charset="0"/>
              </a:rPr>
              <a:t>Handling multiple related tables and understanding their relationships. </a:t>
            </a:r>
          </a:p>
          <a:p>
            <a:pPr marL="114300" lvl="0" indent="0">
              <a:buNone/>
            </a:pPr>
            <a:endParaRPr lang="en-US" sz="1800" dirty="0">
              <a:latin typeface="Times New Roman" panose="02020603050405020304" pitchFamily="18" charset="0"/>
              <a:cs typeface="Times New Roman" panose="02020603050405020304" pitchFamily="18" charset="0"/>
            </a:endParaRPr>
          </a:p>
          <a:p>
            <a:pPr lvl="0"/>
            <a:r>
              <a:rPr lang="en-US" sz="1800" dirty="0">
                <a:latin typeface="Times New Roman" panose="02020603050405020304" pitchFamily="18" charset="0"/>
                <a:cs typeface="Times New Roman" panose="02020603050405020304" pitchFamily="18" charset="0"/>
              </a:rPr>
              <a:t>Writing complex SQL queries using JOIN, GROUP BY, HAVING, subqueries, and aggregate functions. </a:t>
            </a:r>
          </a:p>
          <a:p>
            <a:pPr marL="114300" lvl="0" indent="0">
              <a:buNone/>
            </a:pPr>
            <a:endParaRPr lang="en-US" sz="1800" dirty="0">
              <a:latin typeface="Times New Roman" panose="02020603050405020304" pitchFamily="18" charset="0"/>
              <a:cs typeface="Times New Roman" panose="02020603050405020304" pitchFamily="18" charset="0"/>
            </a:endParaRPr>
          </a:p>
          <a:p>
            <a:pPr lvl="0"/>
            <a:r>
              <a:rPr lang="en-US" sz="1800" dirty="0">
                <a:latin typeface="Times New Roman" panose="02020603050405020304" pitchFamily="18" charset="0"/>
                <a:cs typeface="Times New Roman" panose="02020603050405020304" pitchFamily="18" charset="0"/>
              </a:rPr>
              <a:t>Analyzing delivery problems such as failed deliveries and multiple delivery attempts. </a:t>
            </a:r>
          </a:p>
          <a:p>
            <a:pPr marL="114300" lvl="0" indent="0">
              <a:buNone/>
            </a:pPr>
            <a:endParaRPr lang="en-US" sz="1800" dirty="0">
              <a:latin typeface="Times New Roman" panose="02020603050405020304" pitchFamily="18" charset="0"/>
              <a:cs typeface="Times New Roman" panose="02020603050405020304" pitchFamily="18" charset="0"/>
            </a:endParaRPr>
          </a:p>
          <a:p>
            <a:pPr lvl="0"/>
            <a:r>
              <a:rPr lang="en-US" sz="1800" dirty="0">
                <a:latin typeface="Times New Roman" panose="02020603050405020304" pitchFamily="18" charset="0"/>
                <a:cs typeface="Times New Roman" panose="02020603050405020304" pitchFamily="18" charset="0"/>
              </a:rPr>
              <a:t>Converting raw data into meaningful business insights for better decision-making. </a:t>
            </a:r>
          </a:p>
          <a:p>
            <a:pPr marL="114300" lvl="0" indent="0">
              <a:buNone/>
            </a:pPr>
            <a:endParaRPr lang="en-US" sz="1800" dirty="0">
              <a:latin typeface="Times New Roman" panose="02020603050405020304" pitchFamily="18" charset="0"/>
              <a:cs typeface="Times New Roman" panose="02020603050405020304" pitchFamily="18" charset="0"/>
            </a:endParaRPr>
          </a:p>
          <a:p>
            <a:pPr lvl="0"/>
            <a:r>
              <a:rPr lang="en-US" sz="1800" dirty="0">
                <a:latin typeface="Times New Roman" panose="02020603050405020304" pitchFamily="18" charset="0"/>
                <a:cs typeface="Times New Roman" panose="02020603050405020304" pitchFamily="18" charset="0"/>
              </a:rPr>
              <a:t>Ensuring data accuracy and consistency while performing analysis. </a:t>
            </a:r>
          </a:p>
          <a:p>
            <a:pPr marL="114300" indent="0">
              <a:buNone/>
            </a:pPr>
            <a:endParaRPr lang="en-US" dirty="0"/>
          </a:p>
        </p:txBody>
      </p:sp>
    </p:spTree>
    <p:extLst>
      <p:ext uri="{BB962C8B-B14F-4D97-AF65-F5344CB8AC3E}">
        <p14:creationId xmlns:p14="http://schemas.microsoft.com/office/powerpoint/2010/main" val="16670581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E9772-6DB7-176A-CCE5-CDB9E0864462}"/>
              </a:ext>
            </a:extLst>
          </p:cNvPr>
          <p:cNvSpPr>
            <a:spLocks noGrp="1"/>
          </p:cNvSpPr>
          <p:nvPr>
            <p:ph type="title"/>
          </p:nvPr>
        </p:nvSpPr>
        <p:spPr>
          <a:xfrm>
            <a:off x="838200" y="18255"/>
            <a:ext cx="10515600" cy="994619"/>
          </a:xfrm>
        </p:spPr>
        <p:txBody>
          <a:bodyPr>
            <a:normAutofit/>
          </a:bodyPr>
          <a:lstStyle/>
          <a:p>
            <a:pPr algn="ctr"/>
            <a:r>
              <a:rPr lang="en-US" sz="3200" b="1" dirty="0">
                <a:solidFill>
                  <a:schemeClr val="accent1">
                    <a:lumMod val="75000"/>
                  </a:schemeClr>
                </a:solidFill>
              </a:rPr>
              <a:t>Conclusion &amp; Recommendations</a:t>
            </a:r>
            <a:endParaRPr lang="en-US"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2864F959-42E2-46A6-DD56-22937D38E8C2}"/>
              </a:ext>
            </a:extLst>
          </p:cNvPr>
          <p:cNvSpPr>
            <a:spLocks noGrp="1"/>
          </p:cNvSpPr>
          <p:nvPr>
            <p:ph type="body" idx="1"/>
          </p:nvPr>
        </p:nvSpPr>
        <p:spPr>
          <a:xfrm>
            <a:off x="838200" y="1350498"/>
            <a:ext cx="10515600" cy="4826465"/>
          </a:xfrm>
        </p:spPr>
        <p:txBody>
          <a:bodyPr/>
          <a:lstStyle/>
          <a:p>
            <a:pPr lvl="0"/>
            <a:r>
              <a:rPr lang="en-US" sz="1800" dirty="0">
                <a:latin typeface="Times New Roman" panose="02020603050405020304" pitchFamily="18" charset="0"/>
                <a:cs typeface="Times New Roman" panose="02020603050405020304" pitchFamily="18" charset="0"/>
              </a:rPr>
              <a:t>SQL analysis helped identify customer, order, and delivery performance patterns. </a:t>
            </a:r>
          </a:p>
          <a:p>
            <a:pPr marL="114300" lvl="0" indent="0">
              <a:buNone/>
            </a:pPr>
            <a:endParaRPr lang="en-US" sz="1800" dirty="0">
              <a:latin typeface="Times New Roman" panose="02020603050405020304" pitchFamily="18" charset="0"/>
              <a:cs typeface="Times New Roman" panose="02020603050405020304" pitchFamily="18" charset="0"/>
            </a:endParaRPr>
          </a:p>
          <a:p>
            <a:pPr lvl="0"/>
            <a:r>
              <a:rPr lang="en-US" sz="1800" dirty="0">
                <a:latin typeface="Times New Roman" panose="02020603050405020304" pitchFamily="18" charset="0"/>
                <a:cs typeface="Times New Roman" panose="02020603050405020304" pitchFamily="18" charset="0"/>
              </a:rPr>
              <a:t>Optimize problematic delivery zones and reduce repeated delivery attempts. </a:t>
            </a:r>
          </a:p>
          <a:p>
            <a:pPr marL="114300" lvl="0" indent="0">
              <a:buNone/>
            </a:pPr>
            <a:endParaRPr lang="en-US" sz="1800" dirty="0">
              <a:latin typeface="Times New Roman" panose="02020603050405020304" pitchFamily="18" charset="0"/>
              <a:cs typeface="Times New Roman" panose="02020603050405020304" pitchFamily="18" charset="0"/>
            </a:endParaRPr>
          </a:p>
          <a:p>
            <a:pPr lvl="0"/>
            <a:r>
              <a:rPr lang="en-US" sz="1800" dirty="0">
                <a:latin typeface="Times New Roman" panose="02020603050405020304" pitchFamily="18" charset="0"/>
                <a:cs typeface="Times New Roman" panose="02020603050405020304" pitchFamily="18" charset="0"/>
              </a:rPr>
              <a:t>Focus on high-value and repeat customers to improve customer retention. </a:t>
            </a:r>
          </a:p>
          <a:p>
            <a:pPr marL="114300" lvl="0" indent="0">
              <a:buNone/>
            </a:pPr>
            <a:endParaRPr lang="en-US" sz="1800" dirty="0">
              <a:latin typeface="Times New Roman" panose="02020603050405020304" pitchFamily="18" charset="0"/>
              <a:cs typeface="Times New Roman" panose="02020603050405020304" pitchFamily="18" charset="0"/>
            </a:endParaRPr>
          </a:p>
          <a:p>
            <a:pPr lvl="0"/>
            <a:r>
              <a:rPr lang="en-US" sz="1800" dirty="0">
                <a:latin typeface="Times New Roman" panose="02020603050405020304" pitchFamily="18" charset="0"/>
                <a:cs typeface="Times New Roman" panose="02020603050405020304" pitchFamily="18" charset="0"/>
              </a:rPr>
              <a:t>Use data-driven insights to improve operational efficiency and business performance.</a:t>
            </a:r>
          </a:p>
          <a:p>
            <a:endParaRPr lang="en-US" dirty="0"/>
          </a:p>
        </p:txBody>
      </p:sp>
    </p:spTree>
    <p:extLst>
      <p:ext uri="{BB962C8B-B14F-4D97-AF65-F5344CB8AC3E}">
        <p14:creationId xmlns:p14="http://schemas.microsoft.com/office/powerpoint/2010/main" val="24966853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7" name="Google Shape;117;p5"/>
          <p:cNvSpPr txBox="1"/>
          <p:nvPr/>
        </p:nvSpPr>
        <p:spPr>
          <a:xfrm>
            <a:off x="919998" y="2603091"/>
            <a:ext cx="10671780" cy="825909"/>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C00000"/>
              </a:buClr>
              <a:buSzPts val="4400"/>
              <a:buFont typeface="Libre Baskerville"/>
              <a:buNone/>
            </a:pPr>
            <a:r>
              <a:rPr lang="en-IN" sz="5300" b="1" i="0" u="none" strike="noStrike" cap="none" dirty="0">
                <a:solidFill>
                  <a:schemeClr val="accent4">
                    <a:lumMod val="75000"/>
                  </a:schemeClr>
                </a:solidFill>
                <a:latin typeface="Libre Baskerville"/>
                <a:ea typeface="Libre Baskerville"/>
                <a:cs typeface="Libre Baskerville"/>
                <a:sym typeface="Libre Baskerville"/>
              </a:rPr>
              <a:t>THANK</a:t>
            </a:r>
            <a:r>
              <a:rPr lang="en-IN" sz="5300" b="1" i="0" u="none" strike="noStrike" cap="none" dirty="0">
                <a:solidFill>
                  <a:srgbClr val="C00000"/>
                </a:solidFill>
                <a:latin typeface="Libre Baskerville"/>
                <a:ea typeface="Libre Baskerville"/>
                <a:cs typeface="Libre Baskerville"/>
                <a:sym typeface="Libre Baskerville"/>
              </a:rPr>
              <a:t> </a:t>
            </a:r>
            <a:r>
              <a:rPr lang="en-IN" sz="5300" b="1" i="0" u="none" strike="noStrike" cap="none" dirty="0">
                <a:solidFill>
                  <a:schemeClr val="accent4">
                    <a:lumMod val="75000"/>
                  </a:schemeClr>
                </a:solidFill>
                <a:latin typeface="Libre Baskerville"/>
                <a:ea typeface="Libre Baskerville"/>
                <a:cs typeface="Libre Baskerville"/>
                <a:sym typeface="Libre Baskerville"/>
              </a:rPr>
              <a:t>YOU</a:t>
            </a:r>
            <a:endParaRPr sz="5300" b="1" i="0" u="none" strike="noStrike" cap="none" dirty="0">
              <a:solidFill>
                <a:schemeClr val="accent4">
                  <a:lumMod val="75000"/>
                </a:schemeClr>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2487</TotalTime>
  <Words>1593</Words>
  <Application>Microsoft Office PowerPoint</Application>
  <PresentationFormat>Widescreen</PresentationFormat>
  <Paragraphs>386</Paragraphs>
  <Slides>42</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Libre Baskerville</vt:lpstr>
      <vt:lpstr>Times New Roman</vt:lpstr>
      <vt:lpstr>Calibri</vt:lpstr>
      <vt:lpstr>Arial</vt:lpstr>
      <vt:lpstr>Office Theme</vt:lpstr>
      <vt:lpstr>PowerPoint Presentation</vt:lpstr>
      <vt:lpstr>About Me</vt:lpstr>
      <vt:lpstr>Agenda</vt:lpstr>
      <vt:lpstr>Project Overview </vt:lpstr>
      <vt:lpstr>Objective of the Project</vt:lpstr>
      <vt:lpstr> Database Structure  </vt:lpstr>
      <vt:lpstr>ER Diagram  </vt:lpstr>
      <vt:lpstr>Key Analysis Questions </vt:lpstr>
      <vt:lpstr>What is the total number of orders?</vt:lpstr>
      <vt:lpstr>What is the total number of deliveries?</vt:lpstr>
      <vt:lpstr>What are the different service types available?</vt:lpstr>
      <vt:lpstr>How many drivers are currently active?</vt:lpstr>
      <vt:lpstr>What are the different vehicle types?</vt:lpstr>
      <vt:lpstr>What is the total order value?</vt:lpstr>
      <vt:lpstr>What is the average package weight?</vt:lpstr>
      <vt:lpstr>Objective-Based Analysis</vt:lpstr>
      <vt:lpstr>Compare orders across different service types.</vt:lpstr>
      <vt:lpstr>Compare orders based on priority.</vt:lpstr>
      <vt:lpstr>Examine how order volume changes over time.</vt:lpstr>
      <vt:lpstr>Look at order value across different groups.</vt:lpstr>
      <vt:lpstr>Compare customers based on the number of orders they place.</vt:lpstr>
      <vt:lpstr>Identify customers with higher total order value.</vt:lpstr>
      <vt:lpstr>Compare customer activity across delivery zones.</vt:lpstr>
      <vt:lpstr>Look at differences between business and individual customers.</vt:lpstr>
      <vt:lpstr>Examine customer ordering patterns over time.</vt:lpstr>
      <vt:lpstr>Compare delivery outcomes across different zones (zone information is on the orders table, so you will need to connect orders and deliveries).</vt:lpstr>
      <vt:lpstr>Examine delivery duration.</vt:lpstr>
      <vt:lpstr>Compare delivery outcomes by status (Delivered, Failed, Pending, Rescheduled) — these are not a simple success/failure split, so consider what each status actually represents.</vt:lpstr>
      <vt:lpstr>Identify areas with higher delivery activity or poorer outcomes.</vt:lpstr>
      <vt:lpstr>Compare delivery performance over time.</vt:lpstr>
      <vt:lpstr>Compare the number of deliveries handled by drivers.</vt:lpstr>
      <vt:lpstr>Compare driver performance across delivery outcomes.</vt:lpstr>
      <vt:lpstr> Examine delivery duration across drivers.</vt:lpstr>
      <vt:lpstr>Compare vehicle usage across different vehicle types.</vt:lpstr>
      <vt:lpstr>Look at delivery performance across different vehicles.</vt:lpstr>
      <vt:lpstr>Examine which deliveries required multiple attempts before succeeding.</vt:lpstr>
      <vt:lpstr>Identify common delivery statuses and problem patterns.</vt:lpstr>
      <vt:lpstr>Compare delivery performance for orders with multiple attempts.</vt:lpstr>
      <vt:lpstr>Key Insights &amp; Findings</vt:lpstr>
      <vt:lpstr>Challenges Faced in the Project </vt:lpstr>
      <vt:lpstr>Conclusion &amp; Recommendations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csp</cp:lastModifiedBy>
  <cp:revision>32</cp:revision>
  <dcterms:created xsi:type="dcterms:W3CDTF">2021-02-16T05:19:01Z</dcterms:created>
  <dcterms:modified xsi:type="dcterms:W3CDTF">2026-08-31T15:05:56Z</dcterms:modified>
</cp:coreProperties>
</file>